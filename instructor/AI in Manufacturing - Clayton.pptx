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attendees to the seminar. Emphasize that this presentation is designed for working adults in manufacturing with standard computer skills. Today we focus on running AI on local plant PCs safely without cloud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distinction between cloud AI and local AI. Highlight that manufacturing facilities often deal with trade secrets and strict uptime demands where local AI excels.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these 3 primary business drivers. Data privacy is usually the #1 requirement for plant managers; offline operation is #1 for OT engineers.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LM Studio's core features. Stress that while it looks like a standard chat application, it also contains a full developer server under the hood for plant automation.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quantization in plain English. Demystify technical terms like Q4_K_M so attendees understand they don't need expensive $10,000 GPUs to run local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attendees on which open-source model to search for in LM Studio. Emphasize Llama 3.1 8B Q4_K_M as the sweet spot for general manufacturing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how system prompts act as guardrails. Showing attendees where to paste this in LM Studio gives them an immediate practical tool for their plants.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concrete CNC machine diagnostic example. Highlight how having immediate steps at the machine reduces Mean Time To Repair (MTTR).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Retrieval-Augmented Generation (RAG) in simple terms: it's like giving the AI an open-book test with your specific machine manual attached.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how multi-document RAG solves cross-domain problems where a hardware manual and a software manual need to be checked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how local LLMs go beyond simple chat: they can be embedded into automated background pipelines (N8N + FastAPI) for daily reporting.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Model Context Protocol (MCP). It allows AI to query factory systems like MES safely without giving the LLM raw database write access.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Reiterate that AI is an assistant, not an autonomous machine controller. Human sign-off and physical safety protocols remain paramount.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attendees a clear, memorable 4-step checklist they can take back to their plants and try immediately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the presentation by summarizing the 3 key takeaways and opening the floor to questions from the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645920"/>
            <a:ext cx="10362895" cy="2011680"/>
          </a:xfrm>
          <a:prstGeom prst="rect">
            <a:avLst/>
          </a:prstGeom>
          <a:noFill/>
        </p:spPr>
        <p:txBody>
          <a:bodyPr wrap="square">
            <a:spAutoFit/>
          </a:bodyPr>
          <a:lstStyle/>
          <a:p>
            <a:pPr algn="ctr">
              <a:defRPr sz="3800" b="1">
                <a:solidFill>
                  <a:srgbClr val="F8FAFC"/>
                </a:solidFill>
                <a:latin typeface="Georgia"/>
              </a:defRPr>
            </a:pPr>
            <a:r>
              <a:t>Local AI on the Factory Floor</a:t>
            </a:r>
          </a:p>
          <a:p>
            <a:pPr algn="ctr">
              <a:spcBef>
                <a:spcPts val="1400"/>
              </a:spcBef>
              <a:defRPr sz="2000">
                <a:solidFill>
                  <a:srgbClr val="D97706"/>
                </a:solidFill>
                <a:latin typeface="Verdana"/>
              </a:defRPr>
            </a:pPr>
            <a:r>
              <a:t>Deploying On-Premise LLMs for Smart Manufacturing with LM Studio</a:t>
            </a:r>
          </a:p>
        </p:txBody>
      </p:sp>
      <p:sp>
        <p:nvSpPr>
          <p:cNvPr id="3" name="Rectangle 2"/>
          <p:cNvSpPr/>
          <p:nvPr/>
        </p:nvSpPr>
        <p:spPr>
          <a:xfrm>
            <a:off x="4266590" y="3931920"/>
            <a:ext cx="3657600" cy="381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4389120"/>
            <a:ext cx="8534095" cy="1645920"/>
          </a:xfrm>
          <a:prstGeom prst="rect">
            <a:avLst/>
          </a:prstGeom>
          <a:noFill/>
        </p:spPr>
        <p:txBody>
          <a:bodyPr wrap="square">
            <a:spAutoFit/>
          </a:bodyPr>
          <a:lstStyle/>
          <a:p>
            <a:pPr algn="ctr">
              <a:defRPr sz="1500" b="1">
                <a:solidFill>
                  <a:srgbClr val="F8FAFC"/>
                </a:solidFill>
                <a:latin typeface="Verdana"/>
              </a:defRPr>
            </a:pPr>
            <a:r>
              <a:t>Community Industry Seminar | AI in Manufacturing Series</a:t>
            </a:r>
          </a:p>
          <a:p>
            <a:pPr algn="ctr">
              <a:spcBef>
                <a:spcPts val="600"/>
              </a:spcBef>
              <a:defRPr sz="1300">
                <a:solidFill>
                  <a:srgbClr val="64748B"/>
                </a:solidFill>
                <a:latin typeface="Verdana"/>
              </a:defRPr>
            </a:pPr>
            <a:r>
              <a:t>Target Audience: Manufacturing Personnel, Engineers, Plant Operators &amp; Maintenance Teams</a:t>
            </a:r>
          </a:p>
          <a:p>
            <a:pPr algn="ctr">
              <a:spcBef>
                <a:spcPts val="400"/>
              </a:spcBef>
              <a:defRPr sz="1300">
                <a:solidFill>
                  <a:srgbClr val="0F766E"/>
                </a:solidFill>
                <a:latin typeface="Verdana"/>
              </a:defRPr>
            </a:pPr>
            <a:r>
              <a:t>Key Focus: Private, Offline, Zero-Cost AI Workflows Using Windows/Mac Workstations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ARCHITECTURE COMPARISON</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Local Inference Eliminates Cloud Data Exposure and Network Dependency</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FFFFFF"/>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800" b="1">
                <a:solidFill>
                  <a:srgbClr val="991B1B"/>
                </a:solidFill>
                <a:latin typeface="Georgia"/>
              </a:defRPr>
            </a:pPr>
            <a:r>
              <a:t>CLOUD AI (ChatGPT, Claude, SaaS APIs)</a:t>
            </a:r>
          </a:p>
          <a:p>
            <a:pPr>
              <a:spcBef>
                <a:spcPts val="1000"/>
              </a:spcBef>
            </a:pPr>
            <a:r>
              <a:rPr b="1" sz="1300">
                <a:solidFill>
                  <a:srgbClr val="1E293B"/>
                </a:solidFill>
                <a:latin typeface="Verdana"/>
              </a:rPr>
              <a:t>• Data Transmission: </a:t>
            </a:r>
            <a:r>
              <a:rPr sz="1300">
                <a:solidFill>
                  <a:srgbClr val="64748B"/>
                </a:solidFill>
                <a:latin typeface="Verdana"/>
              </a:rPr>
              <a:t>Sends shop-floor data, equipment logs, and part specs over public internet to remote servers.</a:t>
            </a:r>
          </a:p>
          <a:p>
            <a:pPr>
              <a:spcBef>
                <a:spcPts val="1000"/>
              </a:spcBef>
            </a:pPr>
            <a:r>
              <a:rPr b="1" sz="1300">
                <a:solidFill>
                  <a:srgbClr val="1E293B"/>
                </a:solidFill>
                <a:latin typeface="Verdana"/>
              </a:rPr>
              <a:t>• Network Dependence: </a:t>
            </a:r>
            <a:r>
              <a:rPr sz="1300">
                <a:solidFill>
                  <a:srgbClr val="64748B"/>
                </a:solidFill>
                <a:latin typeface="Verdana"/>
              </a:rPr>
              <a:t>Requires stable, high-bandwidth WAN connection; halts if plant network or internet drops.</a:t>
            </a:r>
          </a:p>
          <a:p>
            <a:pPr>
              <a:spcBef>
                <a:spcPts val="1000"/>
              </a:spcBef>
            </a:pPr>
            <a:r>
              <a:rPr b="1" sz="1300">
                <a:solidFill>
                  <a:srgbClr val="1E293B"/>
                </a:solidFill>
                <a:latin typeface="Verdana"/>
              </a:rPr>
              <a:t>• Cost Model: </a:t>
            </a:r>
            <a:r>
              <a:rPr sz="1300">
                <a:solidFill>
                  <a:srgbClr val="64748B"/>
                </a:solidFill>
                <a:latin typeface="Verdana"/>
              </a:rPr>
              <a:t>SaaS monthly fees or per-token usage costs ($0.002 to $0.06 per 1k tokens) that scale up with usage.</a:t>
            </a:r>
          </a:p>
          <a:p>
            <a:pPr>
              <a:spcBef>
                <a:spcPts val="1000"/>
              </a:spcBef>
            </a:pPr>
            <a:r>
              <a:rPr b="1" sz="1300">
                <a:solidFill>
                  <a:srgbClr val="1E293B"/>
                </a:solidFill>
                <a:latin typeface="Verdana"/>
              </a:rPr>
              <a:t>• Security Risk: </a:t>
            </a:r>
            <a:r>
              <a:rPr sz="1300">
                <a:solidFill>
                  <a:srgbClr val="64748B"/>
                </a:solidFill>
                <a:latin typeface="Verdana"/>
              </a:rPr>
              <a:t>Risk of third-party logging, IP leaks of proprietary blueprints, and compliance violations.</a:t>
            </a:r>
          </a:p>
        </p:txBody>
      </p:sp>
      <p:sp>
        <p:nvSpPr>
          <p:cNvPr id="6" name="Rounded Rectangle 5"/>
          <p:cNvSpPr/>
          <p:nvPr/>
        </p:nvSpPr>
        <p:spPr>
          <a:xfrm>
            <a:off x="6339535" y="1645920"/>
            <a:ext cx="5120640" cy="457200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800" b="1">
                <a:solidFill>
                  <a:srgbClr val="0284C7"/>
                </a:solidFill>
                <a:latin typeface="Georgia"/>
              </a:defRPr>
            </a:pPr>
            <a:r>
              <a:t>LOCAL AI (LM Studio On-Premise)</a:t>
            </a:r>
          </a:p>
          <a:p>
            <a:pPr>
              <a:spcBef>
                <a:spcPts val="1000"/>
              </a:spcBef>
            </a:pPr>
            <a:r>
              <a:rPr b="1" sz="1300">
                <a:solidFill>
                  <a:srgbClr val="1E293B"/>
                </a:solidFill>
                <a:latin typeface="Verdana"/>
              </a:rPr>
              <a:t>• Absolute Data Sovereignty: </a:t>
            </a:r>
            <a:r>
              <a:rPr sz="1300">
                <a:solidFill>
                  <a:srgbClr val="64748B"/>
                </a:solidFill>
                <a:latin typeface="Verdana"/>
              </a:rPr>
              <a:t>Proprietary blueprints, customer specs, and incident reports never leave the local PC.</a:t>
            </a:r>
          </a:p>
          <a:p>
            <a:pPr>
              <a:spcBef>
                <a:spcPts val="1000"/>
              </a:spcBef>
            </a:pPr>
            <a:r>
              <a:rPr b="1" sz="1300">
                <a:solidFill>
                  <a:srgbClr val="1E293B"/>
                </a:solidFill>
                <a:latin typeface="Verdana"/>
              </a:rPr>
              <a:t>• 100% Offline Resilience: </a:t>
            </a:r>
            <a:r>
              <a:rPr sz="1300">
                <a:solidFill>
                  <a:srgbClr val="64748B"/>
                </a:solidFill>
                <a:latin typeface="Verdana"/>
              </a:rPr>
              <a:t>Functions seamlessly on shop-floor PCs and air-gapped industrial control networks.</a:t>
            </a:r>
          </a:p>
          <a:p>
            <a:pPr>
              <a:spcBef>
                <a:spcPts val="1000"/>
              </a:spcBef>
            </a:pPr>
            <a:r>
              <a:rPr b="1" sz="1300">
                <a:solidFill>
                  <a:srgbClr val="1E293B"/>
                </a:solidFill>
                <a:latin typeface="Verdana"/>
              </a:rPr>
              <a:t>• Zero Recurring Fees: </a:t>
            </a:r>
            <a:r>
              <a:rPr sz="1300">
                <a:solidFill>
                  <a:srgbClr val="64748B"/>
                </a:solidFill>
                <a:latin typeface="Verdana"/>
              </a:rPr>
              <a:t>No per-token billing or user subscriptions after initial model download.</a:t>
            </a:r>
          </a:p>
          <a:p>
            <a:pPr>
              <a:spcBef>
                <a:spcPts val="1000"/>
              </a:spcBef>
            </a:pPr>
            <a:r>
              <a:rPr b="1" sz="1300">
                <a:solidFill>
                  <a:srgbClr val="1E293B"/>
                </a:solidFill>
                <a:latin typeface="Verdana"/>
              </a:rPr>
              <a:t>• Full Operational Control: </a:t>
            </a:r>
            <a:r>
              <a:rPr sz="1300">
                <a:solidFill>
                  <a:srgbClr val="64748B"/>
                </a:solidFill>
                <a:latin typeface="Verdana"/>
              </a:rPr>
              <a:t>Customize system prompts, models, and context length specifically for factory needs.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CORE VALUE PILLARS</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On-Premise AI Guarantees Absolute Privacy, Offline Operation, and Zero Token Fees</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32073" cy="438912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0284C7"/>
                </a:solidFill>
                <a:latin typeface="Verdana"/>
              </a:defRPr>
            </a:pPr>
            <a:r>
              <a:t>DATA PRIVACY</a:t>
            </a:r>
          </a:p>
          <a:p>
            <a:pPr>
              <a:spcBef>
                <a:spcPts val="400"/>
              </a:spcBef>
              <a:defRPr sz="1600" b="1">
                <a:solidFill>
                  <a:srgbClr val="1E293B"/>
                </a:solidFill>
                <a:latin typeface="Georgia"/>
              </a:defRPr>
            </a:pPr>
            <a:r>
              <a:t>IP &amp; Blueprint Protection</a:t>
            </a:r>
          </a:p>
          <a:p>
            <a:pPr>
              <a:defRPr sz="1000">
                <a:solidFill>
                  <a:srgbClr val="64748B"/>
                </a:solidFill>
              </a:defRPr>
            </a:pPr>
            <a:r>
              <a:t>――――――――――――――――――</a:t>
            </a:r>
          </a:p>
          <a:p>
            <a:pPr>
              <a:spcBef>
                <a:spcPts val="800"/>
              </a:spcBef>
            </a:pPr>
            <a:r>
              <a:rPr b="1" sz="1100">
                <a:solidFill>
                  <a:srgbClr val="1E293B"/>
                </a:solidFill>
                <a:latin typeface="Verdana"/>
              </a:rPr>
              <a:t>Sensitive Assets: </a:t>
            </a:r>
            <a:r>
              <a:rPr sz="1100">
                <a:solidFill>
                  <a:srgbClr val="64748B"/>
                </a:solidFill>
                <a:latin typeface="Verdana"/>
              </a:rPr>
              <a:t>Machine repair logs, CAD files, and quality audit reports stay on plant hardware.</a:t>
            </a:r>
          </a:p>
          <a:p>
            <a:pPr>
              <a:spcBef>
                <a:spcPts val="800"/>
              </a:spcBef>
            </a:pPr>
            <a:r>
              <a:rPr b="1" sz="1100">
                <a:solidFill>
                  <a:srgbClr val="1E293B"/>
                </a:solidFill>
                <a:latin typeface="Verdana"/>
              </a:rPr>
              <a:t>No External Training: </a:t>
            </a:r>
            <a:r>
              <a:rPr sz="1100">
                <a:solidFill>
                  <a:srgbClr val="64748B"/>
                </a:solidFill>
                <a:latin typeface="Verdana"/>
              </a:rPr>
              <a:t>Vendor cannot use your proprietary manufacturing data to train commercial models.</a:t>
            </a:r>
          </a:p>
          <a:p>
            <a:pPr>
              <a:spcBef>
                <a:spcPts val="800"/>
              </a:spcBef>
            </a:pPr>
            <a:r>
              <a:rPr b="1" sz="1100">
                <a:solidFill>
                  <a:srgbClr val="1E293B"/>
                </a:solidFill>
                <a:latin typeface="Verdana"/>
              </a:rPr>
              <a:t>Regulatory Readiness: </a:t>
            </a:r>
            <a:r>
              <a:rPr sz="1100">
                <a:solidFill>
                  <a:srgbClr val="64748B"/>
                </a:solidFill>
                <a:latin typeface="Verdana"/>
              </a:rPr>
              <a:t>Meets strict defense, medical, and automotive compliance constraints.</a:t>
            </a:r>
          </a:p>
        </p:txBody>
      </p:sp>
      <p:sp>
        <p:nvSpPr>
          <p:cNvPr id="6" name="Rounded Rectangle 5"/>
          <p:cNvSpPr/>
          <p:nvPr/>
        </p:nvSpPr>
        <p:spPr>
          <a:xfrm>
            <a:off x="4429353" y="1645920"/>
            <a:ext cx="3332073" cy="4389120"/>
          </a:xfrm>
          <a:prstGeom prst="roundRect">
            <a:avLst/>
          </a:prstGeom>
          <a:solidFill>
            <a:srgbClr val="FFFFFF"/>
          </a:solidFill>
          <a:ln w="254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0F766E"/>
                </a:solidFill>
                <a:latin typeface="Verdana"/>
              </a:defRPr>
            </a:pPr>
            <a:r>
              <a:t>OFFLINE OPERATION</a:t>
            </a:r>
          </a:p>
          <a:p>
            <a:pPr>
              <a:spcBef>
                <a:spcPts val="400"/>
              </a:spcBef>
              <a:defRPr sz="1600" b="1">
                <a:solidFill>
                  <a:srgbClr val="1E293B"/>
                </a:solidFill>
                <a:latin typeface="Georgia"/>
              </a:defRPr>
            </a:pPr>
            <a:r>
              <a:t>Zero Internet Dependency</a:t>
            </a:r>
          </a:p>
          <a:p>
            <a:pPr>
              <a:defRPr sz="1000">
                <a:solidFill>
                  <a:srgbClr val="64748B"/>
                </a:solidFill>
              </a:defRPr>
            </a:pPr>
            <a:r>
              <a:t>――――――――――――――――――</a:t>
            </a:r>
          </a:p>
          <a:p>
            <a:pPr>
              <a:spcBef>
                <a:spcPts val="800"/>
              </a:spcBef>
            </a:pPr>
            <a:r>
              <a:rPr b="1" sz="1100">
                <a:solidFill>
                  <a:srgbClr val="1E293B"/>
                </a:solidFill>
                <a:latin typeface="Verdana"/>
              </a:rPr>
              <a:t>Air-Gapped Ready: </a:t>
            </a:r>
            <a:r>
              <a:rPr sz="1100">
                <a:solidFill>
                  <a:srgbClr val="64748B"/>
                </a:solidFill>
                <a:latin typeface="Verdana"/>
              </a:rPr>
              <a:t>Runs reliably on isolated OT networks without external WAN access.</a:t>
            </a:r>
          </a:p>
          <a:p>
            <a:pPr>
              <a:spcBef>
                <a:spcPts val="800"/>
              </a:spcBef>
            </a:pPr>
            <a:r>
              <a:rPr b="1" sz="1100">
                <a:solidFill>
                  <a:srgbClr val="1E293B"/>
                </a:solidFill>
                <a:latin typeface="Verdana"/>
              </a:rPr>
              <a:t>Continuous Uptime: </a:t>
            </a:r>
            <a:r>
              <a:rPr sz="1100">
                <a:solidFill>
                  <a:srgbClr val="64748B"/>
                </a:solidFill>
                <a:latin typeface="Verdana"/>
              </a:rPr>
              <a:t>Immune to cloud outages, internet lag, or remote server maintenance.</a:t>
            </a:r>
          </a:p>
          <a:p>
            <a:pPr>
              <a:spcBef>
                <a:spcPts val="800"/>
              </a:spcBef>
            </a:pPr>
            <a:r>
              <a:rPr b="1" sz="1100">
                <a:solidFill>
                  <a:srgbClr val="1E293B"/>
                </a:solidFill>
                <a:latin typeface="Verdana"/>
              </a:rPr>
              <a:t>Shop-Floor Speed: </a:t>
            </a:r>
            <a:r>
              <a:rPr sz="1100">
                <a:solidFill>
                  <a:srgbClr val="64748B"/>
                </a:solidFill>
                <a:latin typeface="Verdana"/>
              </a:rPr>
              <a:t>Zero network latency — instant responses directly at the workstation.</a:t>
            </a:r>
          </a:p>
        </p:txBody>
      </p:sp>
      <p:sp>
        <p:nvSpPr>
          <p:cNvPr id="7" name="Rounded Rectangle 6"/>
          <p:cNvSpPr/>
          <p:nvPr/>
        </p:nvSpPr>
        <p:spPr>
          <a:xfrm>
            <a:off x="8127186" y="1645920"/>
            <a:ext cx="3332073" cy="43891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D97706"/>
                </a:solidFill>
                <a:latin typeface="Verdana"/>
              </a:defRPr>
            </a:pPr>
            <a:r>
              <a:t>ZERO RECURRING COST</a:t>
            </a:r>
          </a:p>
          <a:p>
            <a:pPr>
              <a:spcBef>
                <a:spcPts val="400"/>
              </a:spcBef>
              <a:defRPr sz="1600" b="1">
                <a:solidFill>
                  <a:srgbClr val="1E293B"/>
                </a:solidFill>
                <a:latin typeface="Georgia"/>
              </a:defRPr>
            </a:pPr>
            <a:r>
              <a:t>Predictable ROI</a:t>
            </a:r>
          </a:p>
          <a:p>
            <a:pPr>
              <a:defRPr sz="1000">
                <a:solidFill>
                  <a:srgbClr val="64748B"/>
                </a:solidFill>
              </a:defRPr>
            </a:pPr>
            <a:r>
              <a:t>――――――――――――――――――</a:t>
            </a:r>
          </a:p>
          <a:p>
            <a:pPr>
              <a:spcBef>
                <a:spcPts val="800"/>
              </a:spcBef>
            </a:pPr>
            <a:r>
              <a:rPr b="1" sz="1100">
                <a:solidFill>
                  <a:srgbClr val="1E293B"/>
                </a:solidFill>
                <a:latin typeface="Verdana"/>
              </a:rPr>
              <a:t>Fixed Cost: </a:t>
            </a:r>
            <a:r>
              <a:rPr sz="1100">
                <a:solidFill>
                  <a:srgbClr val="64748B"/>
                </a:solidFill>
                <a:latin typeface="Verdana"/>
              </a:rPr>
              <a:t>Capitalize existing PC hardware; no ongoing software licenses or token counters.</a:t>
            </a:r>
          </a:p>
          <a:p>
            <a:pPr>
              <a:spcBef>
                <a:spcPts val="800"/>
              </a:spcBef>
            </a:pPr>
            <a:r>
              <a:rPr b="1" sz="1100">
                <a:solidFill>
                  <a:srgbClr val="1E293B"/>
                </a:solidFill>
                <a:latin typeface="Verdana"/>
              </a:rPr>
              <a:t>Unlimited Usage: </a:t>
            </a:r>
            <a:r>
              <a:rPr sz="1100">
                <a:solidFill>
                  <a:srgbClr val="64748B"/>
                </a:solidFill>
                <a:latin typeface="Verdana"/>
              </a:rPr>
              <a:t>Run heavy automated log processing without fear of surprise API bills.</a:t>
            </a:r>
          </a:p>
          <a:p>
            <a:pPr>
              <a:spcBef>
                <a:spcPts val="800"/>
              </a:spcBef>
            </a:pPr>
            <a:r>
              <a:rPr b="1" sz="1100">
                <a:solidFill>
                  <a:srgbClr val="1E293B"/>
                </a:solidFill>
                <a:latin typeface="Verdana"/>
              </a:rPr>
              <a:t>High Efficiency: </a:t>
            </a:r>
            <a:r>
              <a:rPr sz="1100">
                <a:solidFill>
                  <a:srgbClr val="64748B"/>
                </a:solidFill>
                <a:latin typeface="Verdana"/>
              </a:rPr>
              <a:t>Quantized models run efficiently on consumer/business desktop hardware.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SOFTWARE ARCHITECTURE</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LM Studio Delivers a No-Code Desktop Platform and Local API Server</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057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0284C7"/>
                </a:solidFill>
                <a:latin typeface="Georgia"/>
              </a:defRPr>
            </a:pPr>
            <a:r>
              <a:t>Graphical Desktop Interface</a:t>
            </a:r>
          </a:p>
          <a:p>
            <a:pPr>
              <a:spcBef>
                <a:spcPts val="800"/>
              </a:spcBef>
              <a:defRPr sz="1200">
                <a:solidFill>
                  <a:srgbClr val="64748B"/>
                </a:solidFill>
                <a:latin typeface="Verdana"/>
              </a:defRPr>
            </a:pPr>
            <a:r>
              <a:t>Clean, user-friendly Windows/Mac GUI requiring zero command-line or coding skills. Features visual model search, one-click downloads, and intuitive chat controls.</a:t>
            </a:r>
          </a:p>
        </p:txBody>
      </p:sp>
      <p:sp>
        <p:nvSpPr>
          <p:cNvPr id="6" name="Rounded Rectangle 5"/>
          <p:cNvSpPr/>
          <p:nvPr/>
        </p:nvSpPr>
        <p:spPr>
          <a:xfrm>
            <a:off x="6339535" y="1645920"/>
            <a:ext cx="5120640" cy="2057400"/>
          </a:xfrm>
          <a:prstGeom prst="roundRect">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0F766E"/>
                </a:solidFill>
                <a:latin typeface="Georgia"/>
              </a:defRPr>
            </a:pPr>
            <a:r>
              <a:t>OpenAI-Compatible API Server</a:t>
            </a:r>
          </a:p>
          <a:p>
            <a:pPr>
              <a:spcBef>
                <a:spcPts val="800"/>
              </a:spcBef>
              <a:defRPr sz="1200">
                <a:solidFill>
                  <a:srgbClr val="64748B"/>
                </a:solidFill>
                <a:latin typeface="Verdana"/>
              </a:defRPr>
            </a:pPr>
            <a:r>
              <a:t>Built-in local HTTP server (localhost:1234) mimicking OpenAI endpoints (/v1/chat/completions). Allows engineering tools to swap cloud APIs for local inference with 1 line of code.</a:t>
            </a:r>
          </a:p>
        </p:txBody>
      </p:sp>
      <p:sp>
        <p:nvSpPr>
          <p:cNvPr id="7" name="Rounded Rectangle 6"/>
          <p:cNvSpPr/>
          <p:nvPr/>
        </p:nvSpPr>
        <p:spPr>
          <a:xfrm>
            <a:off x="731520" y="3977640"/>
            <a:ext cx="5120640" cy="20574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D97706"/>
                </a:solidFill>
                <a:latin typeface="Georgia"/>
              </a:defRPr>
            </a:pPr>
            <a:r>
              <a:t>Drag-and-Drop Document Chat</a:t>
            </a:r>
          </a:p>
          <a:p>
            <a:pPr>
              <a:spcBef>
                <a:spcPts val="800"/>
              </a:spcBef>
              <a:defRPr sz="1200">
                <a:solidFill>
                  <a:srgbClr val="64748B"/>
                </a:solidFill>
                <a:latin typeface="Verdana"/>
              </a:defRPr>
            </a:pPr>
            <a:r>
              <a:t>Native document attachment allowing operators to ingest machine PDFs, SOPs, and handover logs directly into the prompt context for grounded Q&amp;A.</a:t>
            </a:r>
          </a:p>
        </p:txBody>
      </p:sp>
      <p:sp>
        <p:nvSpPr>
          <p:cNvPr id="8" name="Rounded Rectangle 7"/>
          <p:cNvSpPr/>
          <p:nvPr/>
        </p:nvSpPr>
        <p:spPr>
          <a:xfrm>
            <a:off x="6339535" y="3977640"/>
            <a:ext cx="5120640" cy="2057400"/>
          </a:xfrm>
          <a:prstGeom prst="roundRect">
            <a:avLst/>
          </a:prstGeom>
          <a:solidFill>
            <a:srgbClr val="FFFFFF"/>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1E293B"/>
                </a:solidFill>
                <a:latin typeface="Georgia"/>
              </a:defRPr>
            </a:pPr>
            <a:r>
              <a:t>Model Context Protocol (MCP) Ready</a:t>
            </a:r>
          </a:p>
          <a:p>
            <a:pPr>
              <a:spcBef>
                <a:spcPts val="800"/>
              </a:spcBef>
              <a:defRPr sz="1200">
                <a:solidFill>
                  <a:srgbClr val="64748B"/>
                </a:solidFill>
                <a:latin typeface="Verdana"/>
              </a:defRPr>
            </a:pPr>
            <a:r>
              <a:t>Supports standard protocol integrations to securely expose Manufacturing Execution Systems (MES) and plant databases as contextual tools without direct DB exposure.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HARDWARE SIZING</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Q4_K_M Quantization Fits 8B Models into 16 GB RAM for High-Speed Generation</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45920"/>
          <a:ext cx="10728655" cy="3474720"/>
        </p:xfrm>
        <a:graphic>
          <a:graphicData uri="http://schemas.openxmlformats.org/drawingml/2006/table">
            <a:tbl>
              <a:tblPr firstRow="1" bandRow="1">
                <a:tableStyleId>{5C22544A-7EE6-4342-B048-85BDC9FD1C3A}</a:tableStyleId>
              </a:tblPr>
              <a:tblGrid>
                <a:gridCol w="2011680"/>
                <a:gridCol w="2011680"/>
                <a:gridCol w="2194560"/>
                <a:gridCol w="2377440"/>
                <a:gridCol w="2133295"/>
              </a:tblGrid>
              <a:tr h="694944">
                <a:tc>
                  <a:txBody>
                    <a:bodyPr/>
                    <a:lstStyle/>
                    <a:p>
                      <a:pPr algn="ctr">
                        <a:defRPr b="1" sz="1300">
                          <a:solidFill>
                            <a:srgbClr val="F8FAFC"/>
                          </a:solidFill>
                          <a:latin typeface="Verdana"/>
                        </a:defRPr>
                      </a:pPr>
                      <a:r>
                        <a:t>Workstation Tier</a:t>
                      </a:r>
                    </a:p>
                  </a:txBody>
                  <a:tcPr>
                    <a:solidFill>
                      <a:srgbClr val="0F172A"/>
                    </a:solidFill>
                  </a:tcPr>
                </a:tc>
                <a:tc>
                  <a:txBody>
                    <a:bodyPr/>
                    <a:lstStyle/>
                    <a:p>
                      <a:pPr algn="ctr">
                        <a:defRPr b="1" sz="1300">
                          <a:solidFill>
                            <a:srgbClr val="F8FAFC"/>
                          </a:solidFill>
                          <a:latin typeface="Verdana"/>
                        </a:defRPr>
                      </a:pPr>
                      <a:r>
                        <a:t>System Memory</a:t>
                      </a:r>
                    </a:p>
                  </a:txBody>
                  <a:tcPr>
                    <a:solidFill>
                      <a:srgbClr val="0F172A"/>
                    </a:solidFill>
                  </a:tcPr>
                </a:tc>
                <a:tc>
                  <a:txBody>
                    <a:bodyPr/>
                    <a:lstStyle/>
                    <a:p>
                      <a:pPr algn="ctr">
                        <a:defRPr b="1" sz="1300">
                          <a:solidFill>
                            <a:srgbClr val="F8FAFC"/>
                          </a:solidFill>
                          <a:latin typeface="Verdana"/>
                        </a:defRPr>
                      </a:pPr>
                      <a:r>
                        <a:t>Target Model Size</a:t>
                      </a:r>
                    </a:p>
                  </a:txBody>
                  <a:tcPr>
                    <a:solidFill>
                      <a:srgbClr val="0F172A"/>
                    </a:solidFill>
                  </a:tcPr>
                </a:tc>
                <a:tc>
                  <a:txBody>
                    <a:bodyPr/>
                    <a:lstStyle/>
                    <a:p>
                      <a:pPr algn="ctr">
                        <a:defRPr b="1" sz="1300">
                          <a:solidFill>
                            <a:srgbClr val="F8FAFC"/>
                          </a:solidFill>
                          <a:latin typeface="Verdana"/>
                        </a:defRPr>
                      </a:pPr>
                      <a:r>
                        <a:t>Quantization &amp; VRAM</a:t>
                      </a:r>
                    </a:p>
                  </a:txBody>
                  <a:tcPr>
                    <a:solidFill>
                      <a:srgbClr val="0F172A"/>
                    </a:solidFill>
                  </a:tcPr>
                </a:tc>
                <a:tc>
                  <a:txBody>
                    <a:bodyPr/>
                    <a:lstStyle/>
                    <a:p>
                      <a:pPr algn="ctr">
                        <a:defRPr b="1" sz="1300">
                          <a:solidFill>
                            <a:srgbClr val="F8FAFC"/>
                          </a:solidFill>
                          <a:latin typeface="Verdana"/>
                        </a:defRPr>
                      </a:pPr>
                      <a:r>
                        <a:t>Speed Expectation</a:t>
                      </a:r>
                    </a:p>
                  </a:txBody>
                  <a:tcPr>
                    <a:solidFill>
                      <a:srgbClr val="0F172A"/>
                    </a:solidFill>
                  </a:tcPr>
                </a:tc>
              </a:tr>
              <a:tr h="694944">
                <a:tc>
                  <a:txBody>
                    <a:bodyPr/>
                    <a:lstStyle/>
                    <a:p>
                      <a:pPr>
                        <a:defRPr sz="1200" b="1">
                          <a:solidFill>
                            <a:srgbClr val="1E293B"/>
                          </a:solidFill>
                          <a:latin typeface="Verdana"/>
                        </a:defRPr>
                      </a:pPr>
                      <a:r>
                        <a:t>Basic Office Laptop</a:t>
                      </a:r>
                    </a:p>
                  </a:txBody>
                  <a:tcPr>
                    <a:solidFill>
                      <a:srgbClr val="FFFFFF"/>
                    </a:solidFill>
                  </a:tcPr>
                </a:tc>
                <a:tc>
                  <a:txBody>
                    <a:bodyPr/>
                    <a:lstStyle/>
                    <a:p>
                      <a:pPr>
                        <a:defRPr sz="1200">
                          <a:solidFill>
                            <a:srgbClr val="1E293B"/>
                          </a:solidFill>
                          <a:latin typeface="Verdana"/>
                        </a:defRPr>
                      </a:pPr>
                      <a:r>
                        <a:t>8 GB RAM</a:t>
                      </a:r>
                    </a:p>
                  </a:txBody>
                  <a:tcPr>
                    <a:solidFill>
                      <a:srgbClr val="FFFFFF"/>
                    </a:solidFill>
                  </a:tcPr>
                </a:tc>
                <a:tc>
                  <a:txBody>
                    <a:bodyPr/>
                    <a:lstStyle/>
                    <a:p>
                      <a:pPr>
                        <a:defRPr sz="1200">
                          <a:solidFill>
                            <a:srgbClr val="1E293B"/>
                          </a:solidFill>
                          <a:latin typeface="Verdana"/>
                        </a:defRPr>
                      </a:pPr>
                      <a:r>
                        <a:t>3B Models (Llama 3.2 3B)</a:t>
                      </a:r>
                    </a:p>
                  </a:txBody>
                  <a:tcPr>
                    <a:solidFill>
                      <a:srgbClr val="FFFFFF"/>
                    </a:solidFill>
                  </a:tcPr>
                </a:tc>
                <a:tc>
                  <a:txBody>
                    <a:bodyPr/>
                    <a:lstStyle/>
                    <a:p>
                      <a:pPr>
                        <a:defRPr sz="1200">
                          <a:solidFill>
                            <a:srgbClr val="1E293B"/>
                          </a:solidFill>
                          <a:latin typeface="Verdana"/>
                        </a:defRPr>
                      </a:pPr>
                      <a:r>
                        <a:t>Q4_K_M (~2.2 GB VRAM/RAM)</a:t>
                      </a:r>
                    </a:p>
                  </a:txBody>
                  <a:tcPr>
                    <a:solidFill>
                      <a:srgbClr val="FFFFFF"/>
                    </a:solidFill>
                  </a:tcPr>
                </a:tc>
                <a:tc>
                  <a:txBody>
                    <a:bodyPr/>
                    <a:lstStyle/>
                    <a:p>
                      <a:pPr>
                        <a:defRPr sz="1200">
                          <a:solidFill>
                            <a:srgbClr val="1E293B"/>
                          </a:solidFill>
                          <a:latin typeface="Verdana"/>
                        </a:defRPr>
                      </a:pPr>
                      <a:r>
                        <a:t>25 - 40 tok/sec (CPU)</a:t>
                      </a:r>
                    </a:p>
                  </a:txBody>
                  <a:tcPr>
                    <a:solidFill>
                      <a:srgbClr val="FFFFFF"/>
                    </a:solidFill>
                  </a:tcPr>
                </a:tc>
              </a:tr>
              <a:tr h="694944">
                <a:tc>
                  <a:txBody>
                    <a:bodyPr/>
                    <a:lstStyle/>
                    <a:p>
                      <a:pPr>
                        <a:defRPr sz="1200" b="1">
                          <a:solidFill>
                            <a:srgbClr val="1E293B"/>
                          </a:solidFill>
                          <a:latin typeface="Verdana"/>
                        </a:defRPr>
                      </a:pPr>
                      <a:r>
                        <a:t>Standard Shop PC</a:t>
                      </a:r>
                    </a:p>
                  </a:txBody>
                  <a:tcPr>
                    <a:solidFill>
                      <a:srgbClr val="F1F5F9"/>
                    </a:solidFill>
                  </a:tcPr>
                </a:tc>
                <a:tc>
                  <a:txBody>
                    <a:bodyPr/>
                    <a:lstStyle/>
                    <a:p>
                      <a:pPr>
                        <a:defRPr sz="1200">
                          <a:solidFill>
                            <a:srgbClr val="1E293B"/>
                          </a:solidFill>
                          <a:latin typeface="Verdana"/>
                        </a:defRPr>
                      </a:pPr>
                      <a:r>
                        <a:t>16 GB RAM</a:t>
                      </a:r>
                    </a:p>
                  </a:txBody>
                  <a:tcPr>
                    <a:solidFill>
                      <a:srgbClr val="F1F5F9"/>
                    </a:solidFill>
                  </a:tcPr>
                </a:tc>
                <a:tc>
                  <a:txBody>
                    <a:bodyPr/>
                    <a:lstStyle/>
                    <a:p>
                      <a:pPr>
                        <a:defRPr sz="1200">
                          <a:solidFill>
                            <a:srgbClr val="1E293B"/>
                          </a:solidFill>
                          <a:latin typeface="Verdana"/>
                        </a:defRPr>
                      </a:pPr>
                      <a:r>
                        <a:t>7B / 8B (Llama 3.1 8B)</a:t>
                      </a:r>
                    </a:p>
                  </a:txBody>
                  <a:tcPr>
                    <a:solidFill>
                      <a:srgbClr val="F1F5F9"/>
                    </a:solidFill>
                  </a:tcPr>
                </a:tc>
                <a:tc>
                  <a:txBody>
                    <a:bodyPr/>
                    <a:lstStyle/>
                    <a:p>
                      <a:pPr>
                        <a:defRPr sz="1200">
                          <a:solidFill>
                            <a:srgbClr val="1E293B"/>
                          </a:solidFill>
                          <a:latin typeface="Verdana"/>
                        </a:defRPr>
                      </a:pPr>
                      <a:r>
                        <a:t>Q4_K_M (~4.8 GB VRAM/RAM)</a:t>
                      </a:r>
                    </a:p>
                  </a:txBody>
                  <a:tcPr>
                    <a:solidFill>
                      <a:srgbClr val="F1F5F9"/>
                    </a:solidFill>
                  </a:tcPr>
                </a:tc>
                <a:tc>
                  <a:txBody>
                    <a:bodyPr/>
                    <a:lstStyle/>
                    <a:p>
                      <a:pPr>
                        <a:defRPr sz="1200">
                          <a:solidFill>
                            <a:srgbClr val="1E293B"/>
                          </a:solidFill>
                          <a:latin typeface="Verdana"/>
                        </a:defRPr>
                      </a:pPr>
                      <a:r>
                        <a:t>15 - 25 tok/sec (CPU/GPU)</a:t>
                      </a:r>
                    </a:p>
                  </a:txBody>
                  <a:tcPr>
                    <a:solidFill>
                      <a:srgbClr val="F1F5F9"/>
                    </a:solidFill>
                  </a:tcPr>
                </a:tc>
              </a:tr>
              <a:tr h="694944">
                <a:tc>
                  <a:txBody>
                    <a:bodyPr/>
                    <a:lstStyle/>
                    <a:p>
                      <a:pPr>
                        <a:defRPr sz="1200" b="1">
                          <a:solidFill>
                            <a:srgbClr val="1E293B"/>
                          </a:solidFill>
                          <a:latin typeface="Verdana"/>
                        </a:defRPr>
                      </a:pPr>
                      <a:r>
                        <a:t>Engineering Desktop</a:t>
                      </a:r>
                    </a:p>
                  </a:txBody>
                  <a:tcPr>
                    <a:solidFill>
                      <a:srgbClr val="FFFFFF"/>
                    </a:solidFill>
                  </a:tcPr>
                </a:tc>
                <a:tc>
                  <a:txBody>
                    <a:bodyPr/>
                    <a:lstStyle/>
                    <a:p>
                      <a:pPr>
                        <a:defRPr sz="1200">
                          <a:solidFill>
                            <a:srgbClr val="1E293B"/>
                          </a:solidFill>
                          <a:latin typeface="Verdana"/>
                        </a:defRPr>
                      </a:pPr>
                      <a:r>
                        <a:t>32 GB RAM + GPU</a:t>
                      </a:r>
                    </a:p>
                  </a:txBody>
                  <a:tcPr>
                    <a:solidFill>
                      <a:srgbClr val="FFFFFF"/>
                    </a:solidFill>
                  </a:tcPr>
                </a:tc>
                <a:tc>
                  <a:txBody>
                    <a:bodyPr/>
                    <a:lstStyle/>
                    <a:p>
                      <a:pPr>
                        <a:defRPr sz="1200">
                          <a:solidFill>
                            <a:srgbClr val="1E293B"/>
                          </a:solidFill>
                          <a:latin typeface="Verdana"/>
                        </a:defRPr>
                      </a:pPr>
                      <a:r>
                        <a:t>8B to 14B Models</a:t>
                      </a:r>
                    </a:p>
                  </a:txBody>
                  <a:tcPr>
                    <a:solidFill>
                      <a:srgbClr val="FFFFFF"/>
                    </a:solidFill>
                  </a:tcPr>
                </a:tc>
                <a:tc>
                  <a:txBody>
                    <a:bodyPr/>
                    <a:lstStyle/>
                    <a:p>
                      <a:pPr>
                        <a:defRPr sz="1200">
                          <a:solidFill>
                            <a:srgbClr val="1E293B"/>
                          </a:solidFill>
                          <a:latin typeface="Verdana"/>
                        </a:defRPr>
                      </a:pPr>
                      <a:r>
                        <a:t>Q4_K_M / Q8_0 (Full VRAM)</a:t>
                      </a:r>
                    </a:p>
                  </a:txBody>
                  <a:tcPr>
                    <a:solidFill>
                      <a:srgbClr val="FFFFFF"/>
                    </a:solidFill>
                  </a:tcPr>
                </a:tc>
                <a:tc>
                  <a:txBody>
                    <a:bodyPr/>
                    <a:lstStyle/>
                    <a:p>
                      <a:pPr>
                        <a:defRPr sz="1200">
                          <a:solidFill>
                            <a:srgbClr val="1E293B"/>
                          </a:solidFill>
                          <a:latin typeface="Verdana"/>
                        </a:defRPr>
                      </a:pPr>
                      <a:r>
                        <a:t>40 - 70 tok/sec (RTX GPU)</a:t>
                      </a:r>
                    </a:p>
                  </a:txBody>
                  <a:tcPr>
                    <a:solidFill>
                      <a:srgbClr val="FFFFFF"/>
                    </a:solidFill>
                  </a:tcPr>
                </a:tc>
              </a:tr>
              <a:tr h="694944">
                <a:tc>
                  <a:txBody>
                    <a:bodyPr/>
                    <a:lstStyle/>
                    <a:p>
                      <a:pPr>
                        <a:defRPr sz="1200" b="1">
                          <a:solidFill>
                            <a:srgbClr val="1E293B"/>
                          </a:solidFill>
                          <a:latin typeface="Verdana"/>
                        </a:defRPr>
                      </a:pPr>
                      <a:r>
                        <a:t>Advanced Workstation</a:t>
                      </a:r>
                    </a:p>
                  </a:txBody>
                  <a:tcPr>
                    <a:solidFill>
                      <a:srgbClr val="F1F5F9"/>
                    </a:solidFill>
                  </a:tcPr>
                </a:tc>
                <a:tc>
                  <a:txBody>
                    <a:bodyPr/>
                    <a:lstStyle/>
                    <a:p>
                      <a:pPr>
                        <a:defRPr sz="1200">
                          <a:solidFill>
                            <a:srgbClr val="1E293B"/>
                          </a:solidFill>
                          <a:latin typeface="Verdana"/>
                        </a:defRPr>
                      </a:pPr>
                      <a:r>
                        <a:t>64 GB+ RAM / Mac Ultra</a:t>
                      </a:r>
                    </a:p>
                  </a:txBody>
                  <a:tcPr>
                    <a:solidFill>
                      <a:srgbClr val="F1F5F9"/>
                    </a:solidFill>
                  </a:tcPr>
                </a:tc>
                <a:tc>
                  <a:txBody>
                    <a:bodyPr/>
                    <a:lstStyle/>
                    <a:p>
                      <a:pPr>
                        <a:defRPr sz="1200">
                          <a:solidFill>
                            <a:srgbClr val="1E293B"/>
                          </a:solidFill>
                          <a:latin typeface="Verdana"/>
                        </a:defRPr>
                      </a:pPr>
                      <a:r>
                        <a:t>32B to 70B Models</a:t>
                      </a:r>
                    </a:p>
                  </a:txBody>
                  <a:tcPr>
                    <a:solidFill>
                      <a:srgbClr val="F1F5F9"/>
                    </a:solidFill>
                  </a:tcPr>
                </a:tc>
                <a:tc>
                  <a:txBody>
                    <a:bodyPr/>
                    <a:lstStyle/>
                    <a:p>
                      <a:pPr>
                        <a:defRPr sz="1200">
                          <a:solidFill>
                            <a:srgbClr val="1E293B"/>
                          </a:solidFill>
                          <a:latin typeface="Verdana"/>
                        </a:defRPr>
                      </a:pPr>
                      <a:r>
                        <a:t>Q4_K_M / Full Precision</a:t>
                      </a:r>
                    </a:p>
                  </a:txBody>
                  <a:tcPr>
                    <a:solidFill>
                      <a:srgbClr val="F1F5F9"/>
                    </a:solidFill>
                  </a:tcPr>
                </a:tc>
                <a:tc>
                  <a:txBody>
                    <a:bodyPr/>
                    <a:lstStyle/>
                    <a:p>
                      <a:pPr>
                        <a:defRPr sz="1200">
                          <a:solidFill>
                            <a:srgbClr val="1E293B"/>
                          </a:solidFill>
                          <a:latin typeface="Verdana"/>
                        </a:defRPr>
                      </a:pPr>
                      <a:r>
                        <a:t>20 - 35 tok/sec (Unified)</a:t>
                      </a:r>
                    </a:p>
                  </a:txBody>
                  <a:tcPr>
                    <a:solidFill>
                      <a:srgbClr val="F1F5F9"/>
                    </a:solidFill>
                  </a:tcPr>
                </a:tc>
              </a:tr>
            </a:tbl>
          </a:graphicData>
        </a:graphic>
      </p:graphicFrame>
      <p:sp>
        <p:nvSpPr>
          <p:cNvPr id="6" name="Rounded Rectangle 5"/>
          <p:cNvSpPr/>
          <p:nvPr/>
        </p:nvSpPr>
        <p:spPr>
          <a:xfrm>
            <a:off x="731520" y="5303520"/>
            <a:ext cx="10728655" cy="100584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300">
                <a:solidFill>
                  <a:srgbClr val="92400E"/>
                </a:solidFill>
                <a:latin typeface="Verdana"/>
              </a:defRPr>
            </a:pPr>
            <a:r>
              <a:t>KEY HARDWARE TAKEAWAY: QUANTIZATION (Q4_K_M)</a:t>
            </a:r>
          </a:p>
          <a:p>
            <a:pPr>
              <a:defRPr sz="1150">
                <a:solidFill>
                  <a:srgbClr val="1E293B"/>
                </a:solidFill>
                <a:latin typeface="Verdana"/>
              </a:defRPr>
            </a:pPr>
            <a:r>
              <a:t>Quantization compresses 16-bit model weights into 4-bit representations with virtually zero loss in reasoning accuracy. This enables a powerful 8-billion parameter model to run in under 5 GB of memory, fitting standard factory laptops!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MODEL SELECTION GUIDE</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Matching Model Weights (3B to 8B) to Shop-Floor PCs Achieves 20+ Tokens/Sec</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32073" cy="438912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0284C7"/>
                </a:solidFill>
                <a:latin typeface="Verdana"/>
              </a:defRPr>
            </a:pPr>
            <a:r>
              <a:t>PRIMARY SHOP-FLOOR WORKHORSE</a:t>
            </a:r>
          </a:p>
          <a:p>
            <a:pPr>
              <a:spcBef>
                <a:spcPts val="400"/>
              </a:spcBef>
              <a:defRPr sz="1500" b="1">
                <a:solidFill>
                  <a:srgbClr val="1E293B"/>
                </a:solidFill>
                <a:latin typeface="Georgia"/>
              </a:defRPr>
            </a:pPr>
            <a:r>
              <a:t>Meta Llama-3.1-8B-Instruct</a:t>
            </a:r>
          </a:p>
          <a:p>
            <a:pPr>
              <a:defRPr sz="1000">
                <a:solidFill>
                  <a:srgbClr val="64748B"/>
                </a:solidFill>
              </a:defRPr>
            </a:pPr>
            <a:r>
              <a:t>――――――――――――――――――</a:t>
            </a:r>
          </a:p>
          <a:p>
            <a:pPr>
              <a:spcBef>
                <a:spcPts val="800"/>
              </a:spcBef>
            </a:pPr>
            <a:r>
              <a:rPr b="1" sz="1100">
                <a:solidFill>
                  <a:srgbClr val="1E293B"/>
                </a:solidFill>
                <a:latin typeface="Verdana"/>
              </a:rPr>
              <a:t>Footprint: </a:t>
            </a:r>
            <a:r>
              <a:rPr sz="1100">
                <a:solidFill>
                  <a:srgbClr val="64748B"/>
                </a:solidFill>
                <a:latin typeface="Verdana"/>
              </a:rPr>
              <a:t>Q4_K_M (~4.9 GB VRAM/RAM required).</a:t>
            </a:r>
          </a:p>
          <a:p>
            <a:pPr>
              <a:spcBef>
                <a:spcPts val="800"/>
              </a:spcBef>
            </a:pPr>
            <a:r>
              <a:rPr b="1" sz="1100">
                <a:solidFill>
                  <a:srgbClr val="1E293B"/>
                </a:solidFill>
                <a:latin typeface="Verdana"/>
              </a:rPr>
              <a:t>Best For: </a:t>
            </a:r>
            <a:r>
              <a:rPr sz="1100">
                <a:solidFill>
                  <a:srgbClr val="64748B"/>
                </a:solidFill>
                <a:latin typeface="Verdana"/>
              </a:rPr>
              <a:t>Complex equipment troubleshooting, structured multi-step reasoning, and PDF manual analysis.</a:t>
            </a:r>
          </a:p>
          <a:p>
            <a:pPr>
              <a:spcBef>
                <a:spcPts val="800"/>
              </a:spcBef>
            </a:pPr>
            <a:r>
              <a:rPr b="1" sz="1100">
                <a:solidFill>
                  <a:srgbClr val="1E293B"/>
                </a:solidFill>
                <a:latin typeface="Verdana"/>
              </a:rPr>
              <a:t>System Req: </a:t>
            </a:r>
            <a:r>
              <a:rPr sz="1100">
                <a:solidFill>
                  <a:srgbClr val="64748B"/>
                </a:solidFill>
                <a:latin typeface="Verdana"/>
              </a:rPr>
              <a:t>16 GB RAM desktop or laptop with GPU offload.</a:t>
            </a:r>
          </a:p>
          <a:p>
            <a:pPr>
              <a:spcBef>
                <a:spcPts val="800"/>
              </a:spcBef>
            </a:pPr>
            <a:r>
              <a:rPr b="1" sz="1100">
                <a:solidFill>
                  <a:srgbClr val="1E293B"/>
                </a:solidFill>
                <a:latin typeface="Verdana"/>
              </a:rPr>
              <a:t>Why Pick It: </a:t>
            </a:r>
            <a:r>
              <a:rPr sz="1100">
                <a:solidFill>
                  <a:srgbClr val="64748B"/>
                </a:solidFill>
                <a:latin typeface="Verdana"/>
              </a:rPr>
              <a:t>Exceptional benchmark performance and high instruction-following accuracy.</a:t>
            </a:r>
          </a:p>
        </p:txBody>
      </p:sp>
      <p:sp>
        <p:nvSpPr>
          <p:cNvPr id="6" name="Rounded Rectangle 5"/>
          <p:cNvSpPr/>
          <p:nvPr/>
        </p:nvSpPr>
        <p:spPr>
          <a:xfrm>
            <a:off x="4429353" y="1645920"/>
            <a:ext cx="3332073" cy="4389120"/>
          </a:xfrm>
          <a:prstGeom prst="roundRect">
            <a:avLst/>
          </a:prstGeom>
          <a:solidFill>
            <a:srgbClr val="FFFFFF"/>
          </a:solidFill>
          <a:ln w="254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0F766E"/>
                </a:solidFill>
                <a:latin typeface="Verdana"/>
              </a:defRPr>
            </a:pPr>
            <a:r>
              <a:t>PRECISION TECHNICAL REASONING</a:t>
            </a:r>
          </a:p>
          <a:p>
            <a:pPr>
              <a:spcBef>
                <a:spcPts val="400"/>
              </a:spcBef>
              <a:defRPr sz="1500" b="1">
                <a:solidFill>
                  <a:srgbClr val="1E293B"/>
                </a:solidFill>
                <a:latin typeface="Georgia"/>
              </a:defRPr>
            </a:pPr>
            <a:r>
              <a:t>Qwen2.5-7B-Instruct</a:t>
            </a:r>
          </a:p>
          <a:p>
            <a:pPr>
              <a:defRPr sz="1000">
                <a:solidFill>
                  <a:srgbClr val="64748B"/>
                </a:solidFill>
              </a:defRPr>
            </a:pPr>
            <a:r>
              <a:t>――――――――――――――――――</a:t>
            </a:r>
          </a:p>
          <a:p>
            <a:pPr>
              <a:spcBef>
                <a:spcPts val="800"/>
              </a:spcBef>
            </a:pPr>
            <a:r>
              <a:rPr b="1" sz="1100">
                <a:solidFill>
                  <a:srgbClr val="1E293B"/>
                </a:solidFill>
                <a:latin typeface="Verdana"/>
              </a:rPr>
              <a:t>Footprint: </a:t>
            </a:r>
            <a:r>
              <a:rPr sz="1100">
                <a:solidFill>
                  <a:srgbClr val="64748B"/>
                </a:solidFill>
                <a:latin typeface="Verdana"/>
              </a:rPr>
              <a:t>Q4_K_M (~4.4 GB VRAM/RAM required).</a:t>
            </a:r>
          </a:p>
          <a:p>
            <a:pPr>
              <a:spcBef>
                <a:spcPts val="800"/>
              </a:spcBef>
            </a:pPr>
            <a:r>
              <a:rPr b="1" sz="1100">
                <a:solidFill>
                  <a:srgbClr val="1E293B"/>
                </a:solidFill>
                <a:latin typeface="Verdana"/>
              </a:rPr>
              <a:t>Best For: </a:t>
            </a:r>
            <a:r>
              <a:rPr sz="1100">
                <a:solidFill>
                  <a:srgbClr val="64748B"/>
                </a:solidFill>
                <a:latin typeface="Verdana"/>
              </a:rPr>
              <a:t>Log parsing, code generation, tabular data extraction, and structured JSON outputs.</a:t>
            </a:r>
          </a:p>
          <a:p>
            <a:pPr>
              <a:spcBef>
                <a:spcPts val="800"/>
              </a:spcBef>
            </a:pPr>
            <a:r>
              <a:rPr b="1" sz="1100">
                <a:solidFill>
                  <a:srgbClr val="1E293B"/>
                </a:solidFill>
                <a:latin typeface="Verdana"/>
              </a:rPr>
              <a:t>System Req: </a:t>
            </a:r>
            <a:r>
              <a:rPr sz="1100">
                <a:solidFill>
                  <a:srgbClr val="64748B"/>
                </a:solidFill>
                <a:latin typeface="Verdana"/>
              </a:rPr>
              <a:t>16 GB RAM PC; runs fast on CPU or GPU.</a:t>
            </a:r>
          </a:p>
          <a:p>
            <a:pPr>
              <a:spcBef>
                <a:spcPts val="800"/>
              </a:spcBef>
            </a:pPr>
            <a:r>
              <a:rPr b="1" sz="1100">
                <a:solidFill>
                  <a:srgbClr val="1E293B"/>
                </a:solidFill>
                <a:latin typeface="Verdana"/>
              </a:rPr>
              <a:t>Why Pick It: </a:t>
            </a:r>
            <a:r>
              <a:rPr sz="1100">
                <a:solidFill>
                  <a:srgbClr val="64748B"/>
                </a:solidFill>
                <a:latin typeface="Verdana"/>
              </a:rPr>
              <a:t>Top-tier performance on technical specs and multi-lingual technical manuals.</a:t>
            </a:r>
          </a:p>
        </p:txBody>
      </p:sp>
      <p:sp>
        <p:nvSpPr>
          <p:cNvPr id="7" name="Rounded Rectangle 6"/>
          <p:cNvSpPr/>
          <p:nvPr/>
        </p:nvSpPr>
        <p:spPr>
          <a:xfrm>
            <a:off x="8127186" y="1645920"/>
            <a:ext cx="3332073" cy="43891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D97706"/>
                </a:solidFill>
                <a:latin typeface="Verdana"/>
              </a:defRPr>
            </a:pPr>
            <a:r>
              <a:t>LIGHTWEIGHT / LEGACY HARDWARE</a:t>
            </a:r>
          </a:p>
          <a:p>
            <a:pPr>
              <a:spcBef>
                <a:spcPts val="400"/>
              </a:spcBef>
              <a:defRPr sz="1500" b="1">
                <a:solidFill>
                  <a:srgbClr val="1E293B"/>
                </a:solidFill>
                <a:latin typeface="Georgia"/>
              </a:defRPr>
            </a:pPr>
            <a:r>
              <a:t>Llama-3.2-3B / Phi-3.5-mini</a:t>
            </a:r>
          </a:p>
          <a:p>
            <a:pPr>
              <a:defRPr sz="1000">
                <a:solidFill>
                  <a:srgbClr val="64748B"/>
                </a:solidFill>
              </a:defRPr>
            </a:pPr>
            <a:r>
              <a:t>――――――――――――――――――</a:t>
            </a:r>
          </a:p>
          <a:p>
            <a:pPr>
              <a:spcBef>
                <a:spcPts val="800"/>
              </a:spcBef>
            </a:pPr>
            <a:r>
              <a:rPr b="1" sz="1100">
                <a:solidFill>
                  <a:srgbClr val="1E293B"/>
                </a:solidFill>
                <a:latin typeface="Verdana"/>
              </a:rPr>
              <a:t>Footprint: </a:t>
            </a:r>
            <a:r>
              <a:rPr sz="1100">
                <a:solidFill>
                  <a:srgbClr val="64748B"/>
                </a:solidFill>
                <a:latin typeface="Verdana"/>
              </a:rPr>
              <a:t>Q4_K_M (~2.0 GB VRAM/RAM required).</a:t>
            </a:r>
          </a:p>
          <a:p>
            <a:pPr>
              <a:spcBef>
                <a:spcPts val="800"/>
              </a:spcBef>
            </a:pPr>
            <a:r>
              <a:rPr b="1" sz="1100">
                <a:solidFill>
                  <a:srgbClr val="1E293B"/>
                </a:solidFill>
                <a:latin typeface="Verdana"/>
              </a:rPr>
              <a:t>Best For: </a:t>
            </a:r>
            <a:r>
              <a:rPr sz="1100">
                <a:solidFill>
                  <a:srgbClr val="64748B"/>
                </a:solidFill>
                <a:latin typeface="Verdana"/>
              </a:rPr>
              <a:t>Quick text summaries, simple checklist generation, and low-RAM shop terminals.</a:t>
            </a:r>
          </a:p>
          <a:p>
            <a:pPr>
              <a:spcBef>
                <a:spcPts val="800"/>
              </a:spcBef>
            </a:pPr>
            <a:r>
              <a:rPr b="1" sz="1100">
                <a:solidFill>
                  <a:srgbClr val="1E293B"/>
                </a:solidFill>
                <a:latin typeface="Verdana"/>
              </a:rPr>
              <a:t>System Req: </a:t>
            </a:r>
            <a:r>
              <a:rPr sz="1100">
                <a:solidFill>
                  <a:srgbClr val="64748B"/>
                </a:solidFill>
                <a:latin typeface="Verdana"/>
              </a:rPr>
              <a:t>8 GB RAM standard business laptop.</a:t>
            </a:r>
          </a:p>
          <a:p>
            <a:pPr>
              <a:spcBef>
                <a:spcPts val="800"/>
              </a:spcBef>
            </a:pPr>
            <a:r>
              <a:rPr b="1" sz="1100">
                <a:solidFill>
                  <a:srgbClr val="1E293B"/>
                </a:solidFill>
                <a:latin typeface="Verdana"/>
              </a:rPr>
              <a:t>Why Pick It: </a:t>
            </a:r>
            <a:r>
              <a:rPr sz="1100">
                <a:solidFill>
                  <a:srgbClr val="64748B"/>
                </a:solidFill>
                <a:latin typeface="Verdana"/>
              </a:rPr>
              <a:t>Extremely fast generation (35+ tok/sec) even on integrated CPU graphics.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PROMPT ENGINEERING</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System Prompts Enforce Mandatory Safety Guardrails and LOTO Protocols</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D97706"/>
                </a:solidFill>
                <a:latin typeface="Georgia"/>
              </a:defRPr>
            </a:pPr>
            <a:r>
              <a:t>RECOMMENDED MANUFACTURING SYSTEM PROMPT</a:t>
            </a:r>
          </a:p>
          <a:p>
            <a:pPr>
              <a:spcBef>
                <a:spcPts val="1400"/>
              </a:spcBef>
              <a:defRPr sz="1150">
                <a:solidFill>
                  <a:srgbClr val="F8FAFC"/>
                </a:solidFill>
                <a:latin typeface="Courier New"/>
              </a:defRPr>
            </a:pPr>
            <a:r>
              <a:t>You are an expert manufacturing technician and equipment troubleshooter.</a:t>
            </a:r>
            <a:br/>
            <a:br/>
            <a:r>
              <a:t>Provide direct, safety-oriented, step-by-step diagnostic procedures for industrial equipment.</a:t>
            </a:r>
            <a:br/>
            <a:br/>
            <a:r>
              <a:t>ALWAYS emphasize Personal Protective Equipment (PPE) and Lock-Out/Tag-Out (LOTO) protocols prior to recommending any physical inspection or electrical testing.</a:t>
            </a:r>
            <a:br/>
            <a:br/>
            <a:r>
              <a:t>If information is missing, state what is needed rather than guessing.</a:t>
            </a:r>
          </a:p>
        </p:txBody>
      </p:sp>
      <p:sp>
        <p:nvSpPr>
          <p:cNvPr id="6" name="Rounded Rectangle 5"/>
          <p:cNvSpPr/>
          <p:nvPr/>
        </p:nvSpPr>
        <p:spPr>
          <a:xfrm>
            <a:off x="6339535" y="1645920"/>
            <a:ext cx="5120640" cy="45720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0284C7"/>
                </a:solidFill>
                <a:latin typeface="Georgia"/>
              </a:defRPr>
            </a:pPr>
            <a:r>
              <a:t>THREE CRITICAL SYSTEM PROMPT PILLARS</a:t>
            </a:r>
          </a:p>
          <a:p>
            <a:pPr>
              <a:spcBef>
                <a:spcPts val="1200"/>
              </a:spcBef>
            </a:pPr>
            <a:r>
              <a:rPr b="1" sz="1300">
                <a:solidFill>
                  <a:srgbClr val="1E293B"/>
                </a:solidFill>
                <a:latin typeface="Verdana"/>
              </a:rPr>
              <a:t>1. Persona &amp; Domain Scope:
</a:t>
            </a:r>
            <a:r>
              <a:rPr sz="1200">
                <a:solidFill>
                  <a:srgbClr val="64748B"/>
                </a:solidFill>
                <a:latin typeface="Verdana"/>
              </a:rPr>
              <a:t>Defines the model's role as a shop-floor expert, steering tone toward clear, concise, engineering-grade answers.</a:t>
            </a:r>
          </a:p>
          <a:p>
            <a:pPr>
              <a:spcBef>
                <a:spcPts val="1200"/>
              </a:spcBef>
            </a:pPr>
            <a:r>
              <a:rPr b="1" sz="1300">
                <a:solidFill>
                  <a:srgbClr val="1E293B"/>
                </a:solidFill>
                <a:latin typeface="Verdana"/>
              </a:rPr>
              <a:t>2. Safety &amp; LOTO Priority:
</a:t>
            </a:r>
            <a:r>
              <a:rPr sz="1200">
                <a:solidFill>
                  <a:srgbClr val="64748B"/>
                </a:solidFill>
                <a:latin typeface="Verdana"/>
              </a:rPr>
              <a:t>Mandates that safety procedures (Lock-Out/Tag-Out, PPE, voltage discharge) precede any maintenance step.</a:t>
            </a:r>
          </a:p>
          <a:p>
            <a:pPr>
              <a:spcBef>
                <a:spcPts val="1200"/>
              </a:spcBef>
            </a:pPr>
            <a:r>
              <a:rPr b="1" sz="1300">
                <a:solidFill>
                  <a:srgbClr val="1E293B"/>
                </a:solidFill>
                <a:latin typeface="Verdana"/>
              </a:rPr>
              <a:t>3. Anti-Hallucination Guardrail:
</a:t>
            </a:r>
            <a:r>
              <a:rPr sz="1200">
                <a:solidFill>
                  <a:srgbClr val="64748B"/>
                </a:solidFill>
                <a:latin typeface="Verdana"/>
              </a:rPr>
              <a:t>Instructs the LLM to explicitly state when data is missing rather than inventing specs or torque values.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PRACTICAL USE CASE 1</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On-Demand Diagnostics Resolve Complex CNC Alarms Directly at the Machine</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32073" cy="438912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0284C7"/>
                </a:solidFill>
                <a:latin typeface="Verdana"/>
              </a:defRPr>
            </a:pPr>
            <a:r>
              <a:t>SHOP-FLOOR INPUT</a:t>
            </a:r>
          </a:p>
          <a:p>
            <a:pPr>
              <a:spcBef>
                <a:spcPts val="400"/>
              </a:spcBef>
              <a:defRPr sz="1500" b="1">
                <a:solidFill>
                  <a:srgbClr val="1E293B"/>
                </a:solidFill>
                <a:latin typeface="Georgia"/>
              </a:defRPr>
            </a:pPr>
            <a:r>
              <a:t>STEP 1: OPERATOR QUERY</a:t>
            </a:r>
          </a:p>
          <a:p>
            <a:pPr>
              <a:defRPr sz="1000">
                <a:solidFill>
                  <a:srgbClr val="64748B"/>
                </a:solidFill>
              </a:defRPr>
            </a:pPr>
            <a:r>
              <a:t>――――――――――――――――――</a:t>
            </a:r>
          </a:p>
          <a:p>
            <a:pPr>
              <a:spcBef>
                <a:spcPts val="800"/>
              </a:spcBef>
            </a:pPr>
            <a:r>
              <a:rPr b="1" sz="1100">
                <a:solidFill>
                  <a:srgbClr val="1E293B"/>
                </a:solidFill>
                <a:latin typeface="Verdana"/>
              </a:rPr>
              <a:t>Scenario: </a:t>
            </a:r>
            <a:r>
              <a:rPr sz="1100">
                <a:solidFill>
                  <a:srgbClr val="64748B"/>
                </a:solidFill>
                <a:latin typeface="Verdana"/>
              </a:rPr>
              <a:t>3-axis CNC vertical machining center throws an axis drive fault alarm on startup.</a:t>
            </a:r>
          </a:p>
          <a:p>
            <a:pPr>
              <a:spcBef>
                <a:spcPts val="800"/>
              </a:spcBef>
            </a:pPr>
            <a:r>
              <a:rPr b="1" sz="1100">
                <a:solidFill>
                  <a:srgbClr val="1E293B"/>
                </a:solidFill>
                <a:latin typeface="Verdana"/>
              </a:rPr>
              <a:t>Operator Prompt: </a:t>
            </a:r>
            <a:r>
              <a:rPr sz="1100">
                <a:solidFill>
                  <a:srgbClr val="64748B"/>
                </a:solidFill>
                <a:latin typeface="Verdana"/>
              </a:rPr>
              <a:t>'Axis drive fault alarm on startup. What are the first 3 mechanical and electrical verification steps?'</a:t>
            </a:r>
          </a:p>
          <a:p>
            <a:pPr>
              <a:spcBef>
                <a:spcPts val="800"/>
              </a:spcBef>
            </a:pPr>
            <a:r>
              <a:rPr b="1" sz="1100">
                <a:solidFill>
                  <a:srgbClr val="1E293B"/>
                </a:solidFill>
                <a:latin typeface="Verdana"/>
              </a:rPr>
              <a:t>Speed: </a:t>
            </a:r>
            <a:r>
              <a:rPr sz="1100">
                <a:solidFill>
                  <a:srgbClr val="64748B"/>
                </a:solidFill>
                <a:latin typeface="Verdana"/>
              </a:rPr>
              <a:t>Instant query input at shop workstation terminal.</a:t>
            </a:r>
          </a:p>
        </p:txBody>
      </p:sp>
      <p:sp>
        <p:nvSpPr>
          <p:cNvPr id="6" name="Rounded Rectangle 5"/>
          <p:cNvSpPr/>
          <p:nvPr/>
        </p:nvSpPr>
        <p:spPr>
          <a:xfrm>
            <a:off x="4429353" y="1645920"/>
            <a:ext cx="3332073" cy="4389120"/>
          </a:xfrm>
          <a:prstGeom prst="roundRect">
            <a:avLst/>
          </a:prstGeom>
          <a:solidFill>
            <a:srgbClr val="FFFFFF"/>
          </a:solidFill>
          <a:ln w="254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0F766E"/>
                </a:solidFill>
                <a:latin typeface="Verdana"/>
              </a:defRPr>
            </a:pPr>
            <a:r>
              <a:t>SAFETY-FIRST OUTPUT</a:t>
            </a:r>
          </a:p>
          <a:p>
            <a:pPr>
              <a:spcBef>
                <a:spcPts val="400"/>
              </a:spcBef>
              <a:defRPr sz="1500" b="1">
                <a:solidFill>
                  <a:srgbClr val="1E293B"/>
                </a:solidFill>
                <a:latin typeface="Georgia"/>
              </a:defRPr>
            </a:pPr>
            <a:r>
              <a:t>STEP 2: LOCAL INFERENCE</a:t>
            </a:r>
          </a:p>
          <a:p>
            <a:pPr>
              <a:defRPr sz="1000">
                <a:solidFill>
                  <a:srgbClr val="64748B"/>
                </a:solidFill>
              </a:defRPr>
            </a:pPr>
            <a:r>
              <a:t>――――――――――――――――――</a:t>
            </a:r>
          </a:p>
          <a:p>
            <a:pPr>
              <a:spcBef>
                <a:spcPts val="800"/>
              </a:spcBef>
            </a:pPr>
            <a:r>
              <a:rPr b="1" sz="1100">
                <a:solidFill>
                  <a:srgbClr val="1E293B"/>
                </a:solidFill>
                <a:latin typeface="Verdana"/>
              </a:rPr>
              <a:t>Safety First: </a:t>
            </a:r>
            <a:r>
              <a:rPr sz="1100">
                <a:solidFill>
                  <a:srgbClr val="64748B"/>
                </a:solidFill>
                <a:latin typeface="Verdana"/>
              </a:rPr>
              <a:t>LLM outputs mandatory LOTO &amp; 24V power isolation verification.</a:t>
            </a:r>
          </a:p>
          <a:p>
            <a:pPr>
              <a:spcBef>
                <a:spcPts val="800"/>
              </a:spcBef>
            </a:pPr>
            <a:r>
              <a:rPr b="1" sz="1100">
                <a:solidFill>
                  <a:srgbClr val="1E293B"/>
                </a:solidFill>
                <a:latin typeface="Verdana"/>
              </a:rPr>
              <a:t>Step 1 (Mechanical): </a:t>
            </a:r>
            <a:r>
              <a:rPr sz="1100">
                <a:solidFill>
                  <a:srgbClr val="64748B"/>
                </a:solidFill>
                <a:latin typeface="Verdana"/>
              </a:rPr>
              <a:t>Check ball screw binding and lubrication flow lines.</a:t>
            </a:r>
          </a:p>
          <a:p>
            <a:pPr>
              <a:spcBef>
                <a:spcPts val="800"/>
              </a:spcBef>
            </a:pPr>
            <a:r>
              <a:rPr b="1" sz="1100">
                <a:solidFill>
                  <a:srgbClr val="1E293B"/>
                </a:solidFill>
                <a:latin typeface="Verdana"/>
              </a:rPr>
              <a:t>Step 2 (Electrical): </a:t>
            </a:r>
            <a:r>
              <a:rPr sz="1100">
                <a:solidFill>
                  <a:srgbClr val="64748B"/>
                </a:solidFill>
                <a:latin typeface="Verdana"/>
              </a:rPr>
              <a:t>Verify drive board LED status &amp; encoder cable seats.</a:t>
            </a:r>
          </a:p>
          <a:p>
            <a:pPr>
              <a:spcBef>
                <a:spcPts val="800"/>
              </a:spcBef>
            </a:pPr>
            <a:r>
              <a:rPr b="1" sz="1100">
                <a:solidFill>
                  <a:srgbClr val="1E293B"/>
                </a:solidFill>
                <a:latin typeface="Verdana"/>
              </a:rPr>
              <a:t>Step 3 (Parameters): </a:t>
            </a:r>
            <a:r>
              <a:rPr sz="1100">
                <a:solidFill>
                  <a:srgbClr val="64748B"/>
                </a:solidFill>
                <a:latin typeface="Verdana"/>
              </a:rPr>
              <a:t>Check axis load limits in CNC controller menu.</a:t>
            </a:r>
          </a:p>
        </p:txBody>
      </p:sp>
      <p:sp>
        <p:nvSpPr>
          <p:cNvPr id="7" name="Rounded Rectangle 6"/>
          <p:cNvSpPr/>
          <p:nvPr/>
        </p:nvSpPr>
        <p:spPr>
          <a:xfrm>
            <a:off x="8127186" y="1645920"/>
            <a:ext cx="3332073" cy="43891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D97706"/>
                </a:solidFill>
                <a:latin typeface="Verdana"/>
              </a:defRPr>
            </a:pPr>
            <a:r>
              <a:t>REDUCED DOWNTIME</a:t>
            </a:r>
          </a:p>
          <a:p>
            <a:pPr>
              <a:spcBef>
                <a:spcPts val="400"/>
              </a:spcBef>
              <a:defRPr sz="1500" b="1">
                <a:solidFill>
                  <a:srgbClr val="1E293B"/>
                </a:solidFill>
                <a:latin typeface="Georgia"/>
              </a:defRPr>
            </a:pPr>
            <a:r>
              <a:t>STEP 3: ACTION &amp; REPAIR</a:t>
            </a:r>
          </a:p>
          <a:p>
            <a:pPr>
              <a:defRPr sz="1000">
                <a:solidFill>
                  <a:srgbClr val="64748B"/>
                </a:solidFill>
              </a:defRPr>
            </a:pPr>
            <a:r>
              <a:t>――――――――――――――――――</a:t>
            </a:r>
          </a:p>
          <a:p>
            <a:pPr>
              <a:spcBef>
                <a:spcPts val="800"/>
              </a:spcBef>
            </a:pPr>
            <a:r>
              <a:rPr b="1" sz="1100">
                <a:solidFill>
                  <a:srgbClr val="1E293B"/>
                </a:solidFill>
                <a:latin typeface="Verdana"/>
              </a:rPr>
              <a:t>Reduced MTTR: </a:t>
            </a:r>
            <a:r>
              <a:rPr sz="1100">
                <a:solidFill>
                  <a:srgbClr val="64748B"/>
                </a:solidFill>
                <a:latin typeface="Verdana"/>
              </a:rPr>
              <a:t>Operator isolates loose encoder connector in 5 minutes vs 2-hour technician wait.</a:t>
            </a:r>
          </a:p>
          <a:p>
            <a:pPr>
              <a:spcBef>
                <a:spcPts val="800"/>
              </a:spcBef>
            </a:pPr>
            <a:r>
              <a:rPr b="1" sz="1100">
                <a:solidFill>
                  <a:srgbClr val="1E293B"/>
                </a:solidFill>
                <a:latin typeface="Verdana"/>
              </a:rPr>
              <a:t>Audit Trail: </a:t>
            </a:r>
            <a:r>
              <a:rPr sz="1100">
                <a:solidFill>
                  <a:srgbClr val="64748B"/>
                </a:solidFill>
                <a:latin typeface="Verdana"/>
              </a:rPr>
              <a:t>Save chat transcript directly into maintenance log for shift handover.</a:t>
            </a:r>
          </a:p>
          <a:p>
            <a:pPr>
              <a:spcBef>
                <a:spcPts val="800"/>
              </a:spcBef>
            </a:pPr>
            <a:r>
              <a:rPr b="1" sz="1100">
                <a:solidFill>
                  <a:srgbClr val="1E293B"/>
                </a:solidFill>
                <a:latin typeface="Verdana"/>
              </a:rPr>
              <a:t>Confidence: </a:t>
            </a:r>
            <a:r>
              <a:rPr sz="1100">
                <a:solidFill>
                  <a:srgbClr val="64748B"/>
                </a:solidFill>
                <a:latin typeface="Verdana"/>
              </a:rPr>
              <a:t>Zero guesswork, fully aligned with safe operating standards.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PRACTICAL USE CASE 2</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RAG Ingestion Delivers Grounded Answers Across 100+ Page Machinery Manuals</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32073" cy="438912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0284C7"/>
                </a:solidFill>
                <a:latin typeface="Verdana"/>
              </a:defRPr>
            </a:pPr>
            <a:r>
              <a:t>DRAG-AND-DROP INGESTION</a:t>
            </a:r>
          </a:p>
          <a:p>
            <a:pPr>
              <a:spcBef>
                <a:spcPts val="400"/>
              </a:spcBef>
              <a:defRPr sz="1500" b="1">
                <a:solidFill>
                  <a:srgbClr val="1E293B"/>
                </a:solidFill>
                <a:latin typeface="Georgia"/>
              </a:defRPr>
            </a:pPr>
            <a:r>
              <a:t>1. ATTACH PDF / LOG</a:t>
            </a:r>
          </a:p>
          <a:p>
            <a:pPr>
              <a:defRPr sz="1000">
                <a:solidFill>
                  <a:srgbClr val="64748B"/>
                </a:solidFill>
              </a:defRPr>
            </a:pPr>
            <a:r>
              <a:t>――――――――――――――――――</a:t>
            </a:r>
          </a:p>
          <a:p>
            <a:pPr>
              <a:spcBef>
                <a:spcPts val="800"/>
              </a:spcBef>
            </a:pPr>
            <a:r>
              <a:rPr b="1" sz="1100">
                <a:solidFill>
                  <a:srgbClr val="1E293B"/>
                </a:solidFill>
                <a:latin typeface="Verdana"/>
              </a:rPr>
              <a:t>Local Files: </a:t>
            </a:r>
            <a:r>
              <a:rPr sz="1100">
                <a:solidFill>
                  <a:srgbClr val="64748B"/>
                </a:solidFill>
                <a:latin typeface="Verdana"/>
              </a:rPr>
              <a:t>Attach 200-page OEM equipment manuals, PM checklists, or PDF schematics.</a:t>
            </a:r>
          </a:p>
          <a:p>
            <a:pPr>
              <a:spcBef>
                <a:spcPts val="800"/>
              </a:spcBef>
            </a:pPr>
            <a:r>
              <a:rPr b="1" sz="1100">
                <a:solidFill>
                  <a:srgbClr val="1E293B"/>
                </a:solidFill>
                <a:latin typeface="Verdana"/>
              </a:rPr>
              <a:t>No Cloud Upload: </a:t>
            </a:r>
            <a:r>
              <a:rPr sz="1100">
                <a:solidFill>
                  <a:srgbClr val="64748B"/>
                </a:solidFill>
                <a:latin typeface="Verdana"/>
              </a:rPr>
              <a:t>PDF parsed locally in LM Studio memory without external processing.</a:t>
            </a:r>
          </a:p>
          <a:p>
            <a:pPr>
              <a:spcBef>
                <a:spcPts val="800"/>
              </a:spcBef>
            </a:pPr>
            <a:r>
              <a:rPr b="1" sz="1100">
                <a:solidFill>
                  <a:srgbClr val="1E293B"/>
                </a:solidFill>
                <a:latin typeface="Verdana"/>
              </a:rPr>
              <a:t>Privacy: </a:t>
            </a:r>
            <a:r>
              <a:rPr sz="1100">
                <a:solidFill>
                  <a:srgbClr val="64748B"/>
                </a:solidFill>
                <a:latin typeface="Verdana"/>
              </a:rPr>
              <a:t>Third-party vendors never see proprietary machine specs.</a:t>
            </a:r>
          </a:p>
        </p:txBody>
      </p:sp>
      <p:sp>
        <p:nvSpPr>
          <p:cNvPr id="6" name="Rounded Rectangle 5"/>
          <p:cNvSpPr/>
          <p:nvPr/>
        </p:nvSpPr>
        <p:spPr>
          <a:xfrm>
            <a:off x="4429353" y="1645920"/>
            <a:ext cx="3332073" cy="4389120"/>
          </a:xfrm>
          <a:prstGeom prst="roundRect">
            <a:avLst/>
          </a:prstGeom>
          <a:solidFill>
            <a:srgbClr val="FFFFFF"/>
          </a:solidFill>
          <a:ln w="254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0F766E"/>
                </a:solidFill>
                <a:latin typeface="Verdana"/>
              </a:defRPr>
            </a:pPr>
            <a:r>
              <a:t>TARGETED PROMPTING</a:t>
            </a:r>
          </a:p>
          <a:p>
            <a:pPr>
              <a:spcBef>
                <a:spcPts val="400"/>
              </a:spcBef>
              <a:defRPr sz="1500" b="1">
                <a:solidFill>
                  <a:srgbClr val="1E293B"/>
                </a:solidFill>
                <a:latin typeface="Georgia"/>
              </a:defRPr>
            </a:pPr>
            <a:r>
              <a:t>2. CONTEXTUAL QUERY</a:t>
            </a:r>
          </a:p>
          <a:p>
            <a:pPr>
              <a:defRPr sz="1000">
                <a:solidFill>
                  <a:srgbClr val="64748B"/>
                </a:solidFill>
              </a:defRPr>
            </a:pPr>
            <a:r>
              <a:t>――――――――――――――――――</a:t>
            </a:r>
          </a:p>
          <a:p>
            <a:pPr>
              <a:spcBef>
                <a:spcPts val="800"/>
              </a:spcBef>
            </a:pPr>
            <a:r>
              <a:rPr b="1" sz="1100">
                <a:solidFill>
                  <a:srgbClr val="1E293B"/>
                </a:solidFill>
                <a:latin typeface="Verdana"/>
              </a:rPr>
              <a:t>Operator Prompt: </a:t>
            </a:r>
            <a:r>
              <a:rPr sz="1100">
                <a:solidFill>
                  <a:srgbClr val="64748B"/>
                </a:solidFill>
                <a:latin typeface="Verdana"/>
              </a:rPr>
              <a:t>'Based strictly on this document, summarize the lubrication schedule and list required lubricant specifications.'</a:t>
            </a:r>
          </a:p>
          <a:p>
            <a:pPr>
              <a:spcBef>
                <a:spcPts val="800"/>
              </a:spcBef>
            </a:pPr>
            <a:r>
              <a:rPr b="1" sz="1100">
                <a:solidFill>
                  <a:srgbClr val="1E293B"/>
                </a:solidFill>
                <a:latin typeface="Verdana"/>
              </a:rPr>
              <a:t>High Context: </a:t>
            </a:r>
            <a:r>
              <a:rPr sz="1100">
                <a:solidFill>
                  <a:srgbClr val="64748B"/>
                </a:solidFill>
                <a:latin typeface="Verdana"/>
              </a:rPr>
              <a:t>LM Studio uses 8k context window to parse exact manual sections.</a:t>
            </a:r>
          </a:p>
        </p:txBody>
      </p:sp>
      <p:sp>
        <p:nvSpPr>
          <p:cNvPr id="7" name="Rounded Rectangle 6"/>
          <p:cNvSpPr/>
          <p:nvPr/>
        </p:nvSpPr>
        <p:spPr>
          <a:xfrm>
            <a:off x="8127186" y="1645920"/>
            <a:ext cx="3332073" cy="43891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D97706"/>
                </a:solidFill>
                <a:latin typeface="Verdana"/>
              </a:defRPr>
            </a:pPr>
            <a:r>
              <a:t>ZERO HALLUCINATION</a:t>
            </a:r>
          </a:p>
          <a:p>
            <a:pPr>
              <a:spcBef>
                <a:spcPts val="400"/>
              </a:spcBef>
              <a:defRPr sz="1500" b="1">
                <a:solidFill>
                  <a:srgbClr val="1E293B"/>
                </a:solidFill>
                <a:latin typeface="Georgia"/>
              </a:defRPr>
            </a:pPr>
            <a:r>
              <a:t>3. GROUNDED ANSWER</a:t>
            </a:r>
          </a:p>
          <a:p>
            <a:pPr>
              <a:defRPr sz="1000">
                <a:solidFill>
                  <a:srgbClr val="64748B"/>
                </a:solidFill>
              </a:defRPr>
            </a:pPr>
            <a:r>
              <a:t>――――――――――――――――――</a:t>
            </a:r>
          </a:p>
          <a:p>
            <a:pPr>
              <a:spcBef>
                <a:spcPts val="800"/>
              </a:spcBef>
            </a:pPr>
            <a:r>
              <a:rPr b="1" sz="1100">
                <a:solidFill>
                  <a:srgbClr val="1E293B"/>
                </a:solidFill>
                <a:latin typeface="Verdana"/>
              </a:rPr>
              <a:t>Exact Output: </a:t>
            </a:r>
            <a:r>
              <a:rPr sz="1100">
                <a:solidFill>
                  <a:srgbClr val="64748B"/>
                </a:solidFill>
                <a:latin typeface="Verdana"/>
              </a:rPr>
              <a:t>Model extracts exact ISO VG 68 oil grade, 500-hour interval, and grease point locations.</a:t>
            </a:r>
          </a:p>
          <a:p>
            <a:pPr>
              <a:spcBef>
                <a:spcPts val="800"/>
              </a:spcBef>
            </a:pPr>
            <a:r>
              <a:rPr b="1" sz="1100">
                <a:solidFill>
                  <a:srgbClr val="1E293B"/>
                </a:solidFill>
                <a:latin typeface="Verdana"/>
              </a:rPr>
              <a:t>Verifiable: </a:t>
            </a:r>
            <a:r>
              <a:rPr sz="1100">
                <a:solidFill>
                  <a:srgbClr val="64748B"/>
                </a:solidFill>
                <a:latin typeface="Verdana"/>
              </a:rPr>
              <a:t>Includes section reference for quick physical cross-verification.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PRACTICAL USE CASE 3</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Cross-Machine Reasoning Unifies Diagnostic Data Across AIVs and Fleet Software</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45920"/>
          <a:ext cx="10727740" cy="2926080"/>
        </p:xfrm>
        <a:graphic>
          <a:graphicData uri="http://schemas.openxmlformats.org/drawingml/2006/table">
            <a:tbl>
              <a:tblPr firstRow="1" bandRow="1">
                <a:tableStyleId>{5C22544A-7EE6-4342-B048-85BDC9FD1C3A}</a:tableStyleId>
              </a:tblPr>
              <a:tblGrid>
                <a:gridCol w="2560320"/>
                <a:gridCol w="4083710"/>
                <a:gridCol w="4083710"/>
              </a:tblGrid>
              <a:tr h="731520">
                <a:tc>
                  <a:txBody>
                    <a:bodyPr/>
                    <a:lstStyle/>
                    <a:p>
                      <a:pPr>
                        <a:defRPr b="1" sz="1300">
                          <a:solidFill>
                            <a:srgbClr val="F8FAFC"/>
                          </a:solidFill>
                          <a:latin typeface="Verdana"/>
                        </a:defRPr>
                      </a:pPr>
                      <a:r>
                        <a:t>Dimension</a:t>
                      </a:r>
                    </a:p>
                  </a:txBody>
                  <a:tcPr>
                    <a:solidFill>
                      <a:srgbClr val="0F172A"/>
                    </a:solidFill>
                  </a:tcPr>
                </a:tc>
                <a:tc>
                  <a:txBody>
                    <a:bodyPr/>
                    <a:lstStyle/>
                    <a:p>
                      <a:pPr>
                        <a:defRPr b="1" sz="1300">
                          <a:solidFill>
                            <a:srgbClr val="F8FAFC"/>
                          </a:solidFill>
                          <a:latin typeface="Verdana"/>
                        </a:defRPr>
                      </a:pPr>
                      <a:r>
                        <a:t>Autonomous Intelligent Vehicle (AIV) Manual</a:t>
                      </a:r>
                    </a:p>
                  </a:txBody>
                  <a:tcPr>
                    <a:solidFill>
                      <a:srgbClr val="0F172A"/>
                    </a:solidFill>
                  </a:tcPr>
                </a:tc>
                <a:tc>
                  <a:txBody>
                    <a:bodyPr/>
                    <a:lstStyle/>
                    <a:p>
                      <a:pPr>
                        <a:defRPr b="1" sz="1300">
                          <a:solidFill>
                            <a:srgbClr val="F8FAFC"/>
                          </a:solidFill>
                          <a:latin typeface="Verdana"/>
                        </a:defRPr>
                      </a:pPr>
                      <a:r>
                        <a:t>Mobile Planner Fleet Software Manual</a:t>
                      </a:r>
                    </a:p>
                  </a:txBody>
                  <a:tcPr>
                    <a:solidFill>
                      <a:srgbClr val="0F172A"/>
                    </a:solidFill>
                  </a:tcPr>
                </a:tc>
              </a:tr>
              <a:tr h="731520">
                <a:tc>
                  <a:txBody>
                    <a:bodyPr/>
                    <a:lstStyle/>
                    <a:p>
                      <a:pPr>
                        <a:defRPr sz="1200" b="1">
                          <a:solidFill>
                            <a:srgbClr val="1E293B"/>
                          </a:solidFill>
                          <a:latin typeface="Verdana"/>
                        </a:defRPr>
                      </a:pPr>
                      <a:r>
                        <a:t>System Domain</a:t>
                      </a:r>
                    </a:p>
                  </a:txBody>
                  <a:tcPr>
                    <a:solidFill>
                      <a:srgbClr val="FFFFFF"/>
                    </a:solidFill>
                  </a:tcPr>
                </a:tc>
                <a:tc>
                  <a:txBody>
                    <a:bodyPr/>
                    <a:lstStyle/>
                    <a:p>
                      <a:pPr>
                        <a:defRPr sz="1200">
                          <a:solidFill>
                            <a:srgbClr val="1E293B"/>
                          </a:solidFill>
                          <a:latin typeface="Verdana"/>
                        </a:defRPr>
                      </a:pPr>
                      <a:r>
                        <a:t>Physical Hardware &amp; Motion Controller</a:t>
                      </a:r>
                    </a:p>
                  </a:txBody>
                  <a:tcPr>
                    <a:solidFill>
                      <a:srgbClr val="FFFFFF"/>
                    </a:solidFill>
                  </a:tcPr>
                </a:tc>
                <a:tc>
                  <a:txBody>
                    <a:bodyPr/>
                    <a:lstStyle/>
                    <a:p>
                      <a:pPr>
                        <a:defRPr sz="1200">
                          <a:solidFill>
                            <a:srgbClr val="1E293B"/>
                          </a:solidFill>
                          <a:latin typeface="Verdana"/>
                        </a:defRPr>
                      </a:pPr>
                      <a:r>
                        <a:t>Central Fleet Management &amp; Scheduling Server</a:t>
                      </a:r>
                    </a:p>
                  </a:txBody>
                  <a:tcPr>
                    <a:solidFill>
                      <a:srgbClr val="FFFFFF"/>
                    </a:solidFill>
                  </a:tcPr>
                </a:tc>
              </a:tr>
              <a:tr h="731520">
                <a:tc>
                  <a:txBody>
                    <a:bodyPr/>
                    <a:lstStyle/>
                    <a:p>
                      <a:pPr>
                        <a:defRPr sz="1200" b="1">
                          <a:solidFill>
                            <a:srgbClr val="1E293B"/>
                          </a:solidFill>
                          <a:latin typeface="Verdana"/>
                        </a:defRPr>
                      </a:pPr>
                      <a:r>
                        <a:t>Typical Fault</a:t>
                      </a:r>
                    </a:p>
                  </a:txBody>
                  <a:tcPr>
                    <a:solidFill>
                      <a:srgbClr val="F1F5F9"/>
                    </a:solidFill>
                  </a:tcPr>
                </a:tc>
                <a:tc>
                  <a:txBody>
                    <a:bodyPr/>
                    <a:lstStyle/>
                    <a:p>
                      <a:pPr>
                        <a:defRPr sz="1200">
                          <a:solidFill>
                            <a:srgbClr val="1E293B"/>
                          </a:solidFill>
                          <a:latin typeface="Verdana"/>
                        </a:defRPr>
                      </a:pPr>
                      <a:r>
                        <a:t>AIV stops unexpectedly at docking station (Hardware/Sensor)</a:t>
                      </a:r>
                    </a:p>
                  </a:txBody>
                  <a:tcPr>
                    <a:solidFill>
                      <a:srgbClr val="F1F5F9"/>
                    </a:solidFill>
                  </a:tcPr>
                </a:tc>
                <a:tc>
                  <a:txBody>
                    <a:bodyPr/>
                    <a:lstStyle/>
                    <a:p>
                      <a:pPr>
                        <a:defRPr sz="1200">
                          <a:solidFill>
                            <a:srgbClr val="1E293B"/>
                          </a:solidFill>
                          <a:latin typeface="Verdana"/>
                        </a:defRPr>
                      </a:pPr>
                      <a:r>
                        <a:t>Mobile Planner shows 'WiFi Timeout / Map Discrepancy'</a:t>
                      </a:r>
                    </a:p>
                  </a:txBody>
                  <a:tcPr>
                    <a:solidFill>
                      <a:srgbClr val="F1F5F9"/>
                    </a:solidFill>
                  </a:tcPr>
                </a:tc>
              </a:tr>
              <a:tr h="731520">
                <a:tc>
                  <a:txBody>
                    <a:bodyPr/>
                    <a:lstStyle/>
                    <a:p>
                      <a:pPr>
                        <a:defRPr sz="1200" b="1">
                          <a:solidFill>
                            <a:srgbClr val="1E293B"/>
                          </a:solidFill>
                          <a:latin typeface="Verdana"/>
                        </a:defRPr>
                      </a:pPr>
                      <a:r>
                        <a:t>Unified AI Reasoning</a:t>
                      </a:r>
                    </a:p>
                  </a:txBody>
                  <a:tcPr>
                    <a:solidFill>
                      <a:srgbClr val="FFFFFF"/>
                    </a:solidFill>
                  </a:tcPr>
                </a:tc>
                <a:tc>
                  <a:txBody>
                    <a:bodyPr/>
                    <a:lstStyle/>
                    <a:p>
                      <a:pPr>
                        <a:defRPr sz="1200">
                          <a:solidFill>
                            <a:srgbClr val="1E293B"/>
                          </a:solidFill>
                          <a:latin typeface="Verdana"/>
                        </a:defRPr>
                      </a:pPr>
                      <a:r>
                        <a:t>Cross-references hardware sensor logs with fleet server map versions to identify root cause in single output</a:t>
                      </a:r>
                    </a:p>
                  </a:txBody>
                  <a:tcPr>
                    <a:solidFill>
                      <a:srgbClr val="FFFFFF"/>
                    </a:solidFill>
                  </a:tcPr>
                </a:tc>
                <a:tc>
                  <a:txBody>
                    <a:bodyPr/>
                    <a:lstStyle/>
                    <a:p/>
                  </a:txBody>
                  <a:tcPr/>
                </a:tc>
              </a:tr>
            </a:tbl>
          </a:graphicData>
        </a:graphic>
      </p:graphicFrame>
      <p:sp>
        <p:nvSpPr>
          <p:cNvPr id="6" name="Rounded Rectangle 5"/>
          <p:cNvSpPr/>
          <p:nvPr/>
        </p:nvSpPr>
        <p:spPr>
          <a:xfrm>
            <a:off x="731520" y="4846320"/>
            <a:ext cx="10728655" cy="1463040"/>
          </a:xfrm>
          <a:prstGeom prst="roundRect">
            <a:avLst/>
          </a:prstGeom>
          <a:solidFill>
            <a:srgbClr val="F0FDFA"/>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300">
                <a:solidFill>
                  <a:srgbClr val="0F766E"/>
                </a:solidFill>
                <a:latin typeface="Verdana"/>
              </a:defRPr>
            </a:pPr>
            <a:r>
              <a:t>SMART FACTORY CASE STUDY (FACTORYLLM BENCHMARK)</a:t>
            </a:r>
          </a:p>
          <a:p>
            <a:pPr>
              <a:spcBef>
                <a:spcPts val="400"/>
              </a:spcBef>
              <a:defRPr sz="1150">
                <a:solidFill>
                  <a:srgbClr val="1E293B"/>
                </a:solidFill>
                <a:latin typeface="Verdana"/>
              </a:defRPr>
            </a:pPr>
            <a:r>
              <a:t>In smart factory environments, maintenance issues often span both physical hardware (AIV) and software (Mobile Planner). RAG-enabled local LLMs synthesize documents across multiple machines, achieving high groundedness scores while safeguarding factory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PRACTICAL USE CASE 4</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Automated Pipelines Summarize Docker Logs into Structured Daily Email Digests</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453335" cy="438912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0284C7"/>
                </a:solidFill>
                <a:latin typeface="Verdana"/>
              </a:defRPr>
            </a:pPr>
            <a:r>
              <a:t>DOCKER / SYSTEM LOGS</a:t>
            </a:r>
          </a:p>
          <a:p>
            <a:pPr>
              <a:spcBef>
                <a:spcPts val="400"/>
              </a:spcBef>
              <a:defRPr sz="1400" b="1">
                <a:solidFill>
                  <a:srgbClr val="1E293B"/>
                </a:solidFill>
                <a:latin typeface="Georgia"/>
              </a:defRPr>
            </a:pPr>
            <a:r>
              <a:t>1. LOG CAPTURE</a:t>
            </a:r>
          </a:p>
          <a:p>
            <a:pPr>
              <a:defRPr sz="1000">
                <a:solidFill>
                  <a:srgbClr val="64748B"/>
                </a:solidFill>
              </a:defRPr>
            </a:pPr>
            <a:r>
              <a:t>――――――――――――――</a:t>
            </a:r>
          </a:p>
          <a:p>
            <a:pPr>
              <a:spcBef>
                <a:spcPts val="800"/>
              </a:spcBef>
            </a:pPr>
            <a:r>
              <a:rPr b="1" sz="1050">
                <a:solidFill>
                  <a:srgbClr val="1E293B"/>
                </a:solidFill>
                <a:latin typeface="Verdana"/>
              </a:rPr>
              <a:t>Raw Log Noise: </a:t>
            </a:r>
            <a:r>
              <a:rPr sz="1050">
                <a:solidFill>
                  <a:srgbClr val="64748B"/>
                </a:solidFill>
                <a:latin typeface="Verdana"/>
              </a:rPr>
              <a:t>Thousands of lines generated daily by plant SCADA &amp; Docker containers.</a:t>
            </a:r>
          </a:p>
          <a:p>
            <a:pPr>
              <a:spcBef>
                <a:spcPts val="800"/>
              </a:spcBef>
            </a:pPr>
            <a:r>
              <a:rPr b="1" sz="1050">
                <a:solidFill>
                  <a:srgbClr val="1E293B"/>
                </a:solidFill>
                <a:latin typeface="Verdana"/>
              </a:rPr>
              <a:t>Filter Engine: </a:t>
            </a:r>
            <a:r>
              <a:rPr sz="1050">
                <a:solidFill>
                  <a:srgbClr val="64748B"/>
                </a:solidFill>
                <a:latin typeface="Verdana"/>
              </a:rPr>
              <a:t>FastAPI scripts strip duplicate info and extract errors/warnings.</a:t>
            </a:r>
          </a:p>
        </p:txBody>
      </p:sp>
      <p:sp>
        <p:nvSpPr>
          <p:cNvPr id="6" name="Rounded Rectangle 5"/>
          <p:cNvSpPr/>
          <p:nvPr/>
        </p:nvSpPr>
        <p:spPr>
          <a:xfrm>
            <a:off x="3489350" y="1645920"/>
            <a:ext cx="2453335" cy="4389120"/>
          </a:xfrm>
          <a:prstGeom prst="roundRect">
            <a:avLst/>
          </a:prstGeom>
          <a:solidFill>
            <a:srgbClr val="FFFFFF"/>
          </a:solidFill>
          <a:ln w="254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0F766E"/>
                </a:solidFill>
                <a:latin typeface="Verdana"/>
              </a:defRPr>
            </a:pPr>
            <a:r>
              <a:t>N8N WORKFLOW</a:t>
            </a:r>
          </a:p>
          <a:p>
            <a:pPr>
              <a:spcBef>
                <a:spcPts val="400"/>
              </a:spcBef>
              <a:defRPr sz="1400" b="1">
                <a:solidFill>
                  <a:srgbClr val="1E293B"/>
                </a:solidFill>
                <a:latin typeface="Georgia"/>
              </a:defRPr>
            </a:pPr>
            <a:r>
              <a:t>2. AUTOMATION</a:t>
            </a:r>
          </a:p>
          <a:p>
            <a:pPr>
              <a:defRPr sz="1000">
                <a:solidFill>
                  <a:srgbClr val="64748B"/>
                </a:solidFill>
              </a:defRPr>
            </a:pPr>
            <a:r>
              <a:t>――――――――――――――</a:t>
            </a:r>
          </a:p>
          <a:p>
            <a:pPr>
              <a:spcBef>
                <a:spcPts val="800"/>
              </a:spcBef>
            </a:pPr>
            <a:r>
              <a:rPr b="1" sz="1050">
                <a:solidFill>
                  <a:srgbClr val="1E293B"/>
                </a:solidFill>
                <a:latin typeface="Verdana"/>
              </a:rPr>
              <a:t>Trigger: </a:t>
            </a:r>
            <a:r>
              <a:rPr sz="1050">
                <a:solidFill>
                  <a:srgbClr val="64748B"/>
                </a:solidFill>
                <a:latin typeface="Verdana"/>
              </a:rPr>
              <a:t>Scheduled night job collects filtered event logs.</a:t>
            </a:r>
          </a:p>
          <a:p>
            <a:pPr>
              <a:spcBef>
                <a:spcPts val="800"/>
              </a:spcBef>
            </a:pPr>
            <a:r>
              <a:rPr b="1" sz="1050">
                <a:solidFill>
                  <a:srgbClr val="1E293B"/>
                </a:solidFill>
                <a:latin typeface="Verdana"/>
              </a:rPr>
              <a:t>API Request: </a:t>
            </a:r>
            <a:r>
              <a:rPr sz="1050">
                <a:solidFill>
                  <a:srgbClr val="64748B"/>
                </a:solidFill>
                <a:latin typeface="Verdana"/>
              </a:rPr>
              <a:t>Sends JSON log payload to LM Studio local API (localhost:1234).</a:t>
            </a:r>
          </a:p>
        </p:txBody>
      </p:sp>
      <p:sp>
        <p:nvSpPr>
          <p:cNvPr id="7" name="Rounded Rectangle 6"/>
          <p:cNvSpPr/>
          <p:nvPr/>
        </p:nvSpPr>
        <p:spPr>
          <a:xfrm>
            <a:off x="6247180" y="1645920"/>
            <a:ext cx="2453335" cy="43891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D97706"/>
                </a:solidFill>
                <a:latin typeface="Verdana"/>
              </a:defRPr>
            </a:pPr>
            <a:r>
              <a:t>LM STUDIO INFERENCE</a:t>
            </a:r>
          </a:p>
          <a:p>
            <a:pPr>
              <a:spcBef>
                <a:spcPts val="400"/>
              </a:spcBef>
              <a:defRPr sz="1400" b="1">
                <a:solidFill>
                  <a:srgbClr val="1E293B"/>
                </a:solidFill>
                <a:latin typeface="Georgia"/>
              </a:defRPr>
            </a:pPr>
            <a:r>
              <a:t>3. LOCAL AI</a:t>
            </a:r>
          </a:p>
          <a:p>
            <a:pPr>
              <a:defRPr sz="1000">
                <a:solidFill>
                  <a:srgbClr val="64748B"/>
                </a:solidFill>
              </a:defRPr>
            </a:pPr>
            <a:r>
              <a:t>――――――――――――――</a:t>
            </a:r>
          </a:p>
          <a:p>
            <a:pPr>
              <a:spcBef>
                <a:spcPts val="800"/>
              </a:spcBef>
            </a:pPr>
            <a:r>
              <a:rPr b="1" sz="1050">
                <a:solidFill>
                  <a:srgbClr val="1E293B"/>
                </a:solidFill>
                <a:latin typeface="Verdana"/>
              </a:rPr>
              <a:t>Summarization: </a:t>
            </a:r>
            <a:r>
              <a:rPr sz="1050">
                <a:solidFill>
                  <a:srgbClr val="64748B"/>
                </a:solidFill>
                <a:latin typeface="Verdana"/>
              </a:rPr>
              <a:t>Qwen2.5-7B parses anomalies, restarts, and critical faults.</a:t>
            </a:r>
          </a:p>
          <a:p>
            <a:pPr>
              <a:spcBef>
                <a:spcPts val="800"/>
              </a:spcBef>
            </a:pPr>
            <a:r>
              <a:rPr b="1" sz="1050">
                <a:solidFill>
                  <a:srgbClr val="1E293B"/>
                </a:solidFill>
                <a:latin typeface="Verdana"/>
              </a:rPr>
              <a:t>Structure: </a:t>
            </a:r>
            <a:r>
              <a:rPr sz="1050">
                <a:solidFill>
                  <a:srgbClr val="64748B"/>
                </a:solidFill>
                <a:latin typeface="Verdana"/>
              </a:rPr>
              <a:t>Formats findings into bulleted markdown report.</a:t>
            </a:r>
          </a:p>
        </p:txBody>
      </p:sp>
      <p:sp>
        <p:nvSpPr>
          <p:cNvPr id="8" name="Rounded Rectangle 7"/>
          <p:cNvSpPr/>
          <p:nvPr/>
        </p:nvSpPr>
        <p:spPr>
          <a:xfrm>
            <a:off x="9005010" y="1645920"/>
            <a:ext cx="2453335" cy="4389120"/>
          </a:xfrm>
          <a:prstGeom prst="roundRect">
            <a:avLst/>
          </a:prstGeom>
          <a:solidFill>
            <a:srgbClr val="FFFFFF"/>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1E293B"/>
                </a:solidFill>
                <a:latin typeface="Verdana"/>
              </a:defRPr>
            </a:pPr>
            <a:r>
              <a:t>DAILY SHIFT DIGEST</a:t>
            </a:r>
          </a:p>
          <a:p>
            <a:pPr>
              <a:spcBef>
                <a:spcPts val="400"/>
              </a:spcBef>
              <a:defRPr sz="1400" b="1">
                <a:solidFill>
                  <a:srgbClr val="1E293B"/>
                </a:solidFill>
                <a:latin typeface="Georgia"/>
              </a:defRPr>
            </a:pPr>
            <a:r>
              <a:t>4. DELIVERY</a:t>
            </a:r>
          </a:p>
          <a:p>
            <a:pPr>
              <a:defRPr sz="1000">
                <a:solidFill>
                  <a:srgbClr val="64748B"/>
                </a:solidFill>
              </a:defRPr>
            </a:pPr>
            <a:r>
              <a:t>――――――――――――――</a:t>
            </a:r>
          </a:p>
          <a:p>
            <a:pPr>
              <a:spcBef>
                <a:spcPts val="800"/>
              </a:spcBef>
            </a:pPr>
            <a:r>
              <a:rPr b="1" sz="1050">
                <a:solidFill>
                  <a:srgbClr val="1E293B"/>
                </a:solidFill>
                <a:latin typeface="Verdana"/>
              </a:rPr>
              <a:t>Email Report: </a:t>
            </a:r>
            <a:r>
              <a:rPr sz="1050">
                <a:solidFill>
                  <a:srgbClr val="64748B"/>
                </a:solidFill>
                <a:latin typeface="Verdana"/>
              </a:rPr>
              <a:t>Delivers 1-page daily executive log digest to plant manager.</a:t>
            </a:r>
          </a:p>
          <a:p>
            <a:pPr>
              <a:spcBef>
                <a:spcPts val="800"/>
              </a:spcBef>
            </a:pPr>
            <a:r>
              <a:rPr b="1" sz="1050">
                <a:solidFill>
                  <a:srgbClr val="1E293B"/>
                </a:solidFill>
                <a:latin typeface="Verdana"/>
              </a:rPr>
              <a:t>Zero Cloud Cost: </a:t>
            </a:r>
            <a:r>
              <a:rPr sz="1050">
                <a:solidFill>
                  <a:srgbClr val="64748B"/>
                </a:solidFill>
                <a:latin typeface="Verdana"/>
              </a:rPr>
              <a:t>Runs 100% automated on-premise every night at zero cost.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PRACTICAL USE CASE 5</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Model Context Protocol (MCP) Safely Connects Local LLMs to On-Premise MES</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32588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500" b="1">
                <a:solidFill>
                  <a:srgbClr val="0284C7"/>
                </a:solidFill>
                <a:latin typeface="Georgia"/>
              </a:defRPr>
            </a:pPr>
            <a:r>
              <a:t>LAYER 1: USER &amp; LOCAL LLM INTERFACE</a:t>
            </a:r>
          </a:p>
          <a:p>
            <a:pPr>
              <a:spcBef>
                <a:spcPts val="600"/>
              </a:spcBef>
              <a:defRPr sz="1200">
                <a:solidFill>
                  <a:srgbClr val="1E293B"/>
                </a:solidFill>
                <a:latin typeface="Verdana"/>
              </a:defRPr>
            </a:pPr>
            <a:r>
              <a:t>Operators ask natural language questions ('What was the primary downtime reason on Line 2 yesterday?') via LM Studio local server.</a:t>
            </a:r>
          </a:p>
        </p:txBody>
      </p:sp>
      <p:sp>
        <p:nvSpPr>
          <p:cNvPr id="6" name="Rounded Rectangle 5"/>
          <p:cNvSpPr/>
          <p:nvPr/>
        </p:nvSpPr>
        <p:spPr>
          <a:xfrm>
            <a:off x="731520" y="3154680"/>
            <a:ext cx="10728655" cy="1325880"/>
          </a:xfrm>
          <a:prstGeom prst="roundRect">
            <a:avLst/>
          </a:prstGeom>
          <a:solidFill>
            <a:srgbClr val="FFFFFF"/>
          </a:solidFill>
          <a:ln w="254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500" b="1">
                <a:solidFill>
                  <a:srgbClr val="0F766E"/>
                </a:solidFill>
                <a:latin typeface="Georgia"/>
              </a:defRPr>
            </a:pPr>
            <a:r>
              <a:t>LAYER 2: MODEL CONTEXT PROTOCOL (MCP) INTERMEDIARY LAYER</a:t>
            </a:r>
          </a:p>
          <a:p>
            <a:pPr>
              <a:spcBef>
                <a:spcPts val="600"/>
              </a:spcBef>
              <a:defRPr sz="1200">
                <a:solidFill>
                  <a:srgbClr val="1E293B"/>
                </a:solidFill>
                <a:latin typeface="Verdana"/>
              </a:defRPr>
            </a:pPr>
            <a:r>
              <a:t>Acts as a secure intermediary layer. Exposes specific MES capabilities as controlled tools, strictly isolating AI from core DB logic.</a:t>
            </a:r>
          </a:p>
        </p:txBody>
      </p:sp>
      <p:sp>
        <p:nvSpPr>
          <p:cNvPr id="7" name="Rounded Rectangle 6"/>
          <p:cNvSpPr/>
          <p:nvPr/>
        </p:nvSpPr>
        <p:spPr>
          <a:xfrm>
            <a:off x="731520" y="4663440"/>
            <a:ext cx="10728655" cy="132588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500" b="1">
                <a:solidFill>
                  <a:srgbClr val="D97706"/>
                </a:solidFill>
                <a:latin typeface="Georgia"/>
              </a:defRPr>
            </a:pPr>
            <a:r>
              <a:t>LAYER 3: ON-PREMISE MANUFACTURING EXECUTION SYSTEM (MES)</a:t>
            </a:r>
          </a:p>
          <a:p>
            <a:pPr>
              <a:spcBef>
                <a:spcPts val="600"/>
              </a:spcBef>
              <a:defRPr sz="1200">
                <a:solidFill>
                  <a:srgbClr val="1E293B"/>
                </a:solidFill>
                <a:latin typeface="Verdana"/>
              </a:defRPr>
            </a:pPr>
            <a:r>
              <a:t>Source of Truth database holding production counts, OEE, and downtime logs. MCP tools respect existing user permissions and anonymize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OPERATIONAL SAFETY</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Human-in-the-Loop Protocols Ensure AI Acts strictly as Decision Support</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FFFFFF"/>
          </a:solidFill>
          <a:ln w="254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600" b="1">
                <a:solidFill>
                  <a:srgbClr val="0F766E"/>
                </a:solidFill>
                <a:latin typeface="Georgia"/>
              </a:defRPr>
            </a:pPr>
            <a:r>
              <a:t>SAFE AI RESPONSIBILITIES (DECISION SUPPORT)</a:t>
            </a:r>
          </a:p>
          <a:p>
            <a:pPr>
              <a:spcBef>
                <a:spcPts val="1000"/>
              </a:spcBef>
            </a:pPr>
            <a:r>
              <a:rPr b="1" sz="1200">
                <a:solidFill>
                  <a:srgbClr val="1E293B"/>
                </a:solidFill>
                <a:latin typeface="Verdana"/>
              </a:rPr>
              <a:t>• Rapid Information Retrieval: </a:t>
            </a:r>
            <a:r>
              <a:rPr sz="1200">
                <a:solidFill>
                  <a:srgbClr val="64748B"/>
                </a:solidFill>
                <a:latin typeface="Verdana"/>
              </a:rPr>
              <a:t>Instantly extracts specs, torque values, and electrical steps from 500-page OEM manuals.</a:t>
            </a:r>
          </a:p>
          <a:p>
            <a:pPr>
              <a:spcBef>
                <a:spcPts val="1000"/>
              </a:spcBef>
            </a:pPr>
            <a:r>
              <a:rPr b="1" sz="1200">
                <a:solidFill>
                  <a:srgbClr val="1E293B"/>
                </a:solidFill>
                <a:latin typeface="Verdana"/>
              </a:rPr>
              <a:t>• Log Noise Reduction: </a:t>
            </a:r>
            <a:r>
              <a:rPr sz="1200">
                <a:solidFill>
                  <a:srgbClr val="64748B"/>
                </a:solidFill>
                <a:latin typeface="Verdana"/>
              </a:rPr>
              <a:t>Filters 10,000 raw lines of SCADA/Docker logs into 5 key daily summary bullets.</a:t>
            </a:r>
          </a:p>
          <a:p>
            <a:pPr>
              <a:spcBef>
                <a:spcPts val="1000"/>
              </a:spcBef>
            </a:pPr>
            <a:r>
              <a:rPr b="1" sz="1200">
                <a:solidFill>
                  <a:srgbClr val="1E293B"/>
                </a:solidFill>
                <a:latin typeface="Verdana"/>
              </a:rPr>
              <a:t>• Troubleshooting Checklists: </a:t>
            </a:r>
            <a:r>
              <a:rPr sz="1200">
                <a:solidFill>
                  <a:srgbClr val="64748B"/>
                </a:solidFill>
                <a:latin typeface="Verdana"/>
              </a:rPr>
              <a:t>Generates structured step-by-step diagnostic verification flows for operators.</a:t>
            </a:r>
          </a:p>
          <a:p>
            <a:pPr>
              <a:spcBef>
                <a:spcPts val="1000"/>
              </a:spcBef>
            </a:pPr>
            <a:r>
              <a:rPr b="1" sz="1200">
                <a:solidFill>
                  <a:srgbClr val="1E293B"/>
                </a:solidFill>
                <a:latin typeface="Verdana"/>
              </a:rPr>
              <a:t>• Drafting Shift Handovers: </a:t>
            </a:r>
            <a:r>
              <a:rPr sz="1200">
                <a:solidFill>
                  <a:srgbClr val="64748B"/>
                </a:solidFill>
                <a:latin typeface="Verdana"/>
              </a:rPr>
              <a:t>Assists technicians in drafting clear handover notes for the next shift.</a:t>
            </a:r>
          </a:p>
        </p:txBody>
      </p:sp>
      <p:sp>
        <p:nvSpPr>
          <p:cNvPr id="6" name="Rounded Rectangle 5"/>
          <p:cNvSpPr/>
          <p:nvPr/>
        </p:nvSpPr>
        <p:spPr>
          <a:xfrm>
            <a:off x="6339535" y="1645920"/>
            <a:ext cx="5120640" cy="457200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600" b="1">
                <a:solidFill>
                  <a:srgbClr val="D97706"/>
                </a:solidFill>
                <a:latin typeface="Georgia"/>
              </a:defRPr>
            </a:pPr>
            <a:r>
              <a:t>STRICT SAFETY CONSTRAINTS &amp; HUMAN SIGN-OFF</a:t>
            </a:r>
          </a:p>
          <a:p>
            <a:pPr>
              <a:spcBef>
                <a:spcPts val="1000"/>
              </a:spcBef>
            </a:pPr>
            <a:r>
              <a:rPr b="1" sz="1200">
                <a:solidFill>
                  <a:srgbClr val="1E293B"/>
                </a:solidFill>
                <a:latin typeface="Verdana"/>
              </a:rPr>
              <a:t>• No Direct Actuation: </a:t>
            </a:r>
            <a:r>
              <a:rPr sz="1200">
                <a:solidFill>
                  <a:srgbClr val="64748B"/>
                </a:solidFill>
                <a:latin typeface="Verdana"/>
              </a:rPr>
              <a:t>Local LLMs must NEVER directly trigger physical machinery motion, PLC relays, or robot movements.</a:t>
            </a:r>
          </a:p>
          <a:p>
            <a:pPr>
              <a:spcBef>
                <a:spcPts val="1000"/>
              </a:spcBef>
            </a:pPr>
            <a:r>
              <a:rPr b="1" sz="1200">
                <a:solidFill>
                  <a:srgbClr val="1E293B"/>
                </a:solidFill>
                <a:latin typeface="Verdana"/>
              </a:rPr>
              <a:t>• Mandatory Physical Check: </a:t>
            </a:r>
            <a:r>
              <a:rPr sz="1200">
                <a:solidFill>
                  <a:srgbClr val="64748B"/>
                </a:solidFill>
                <a:latin typeface="Verdana"/>
              </a:rPr>
              <a:t>Operators must physically verify zero energy state (LOTO) prior to touching components.</a:t>
            </a:r>
          </a:p>
          <a:p>
            <a:pPr>
              <a:spcBef>
                <a:spcPts val="1000"/>
              </a:spcBef>
            </a:pPr>
            <a:r>
              <a:rPr b="1" sz="1200">
                <a:solidFill>
                  <a:srgbClr val="1E293B"/>
                </a:solidFill>
                <a:latin typeface="Verdana"/>
              </a:rPr>
              <a:t>• Double-Check Critical Specs: </a:t>
            </a:r>
            <a:r>
              <a:rPr sz="1200">
                <a:solidFill>
                  <a:srgbClr val="64748B"/>
                </a:solidFill>
                <a:latin typeface="Verdana"/>
              </a:rPr>
              <a:t>Cross-check AI torque values against physical OEM manual plates for critical assemblies.</a:t>
            </a:r>
          </a:p>
          <a:p>
            <a:pPr>
              <a:spcBef>
                <a:spcPts val="1000"/>
              </a:spcBef>
            </a:pPr>
            <a:r>
              <a:rPr b="1" sz="1200">
                <a:solidFill>
                  <a:srgbClr val="1E293B"/>
                </a:solidFill>
                <a:latin typeface="Verdana"/>
              </a:rPr>
              <a:t>• Concurrency Limits: </a:t>
            </a:r>
            <a:r>
              <a:rPr sz="1200">
                <a:solidFill>
                  <a:srgbClr val="64748B"/>
                </a:solidFill>
                <a:latin typeface="Verdana"/>
              </a:rPr>
              <a:t>LM Studio server is designed for single/small team inference, not massive multi-user production loads.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tIns="0" rIns="0" bIns="0">
            <a:spAutoFit/>
          </a:bodyPr>
          <a:lstStyle/>
          <a:p>
            <a:pPr>
              <a:defRPr sz="1100" b="1">
                <a:solidFill>
                  <a:srgbClr val="0284C7"/>
                </a:solidFill>
                <a:latin typeface="Verdana"/>
              </a:defRPr>
            </a:pPr>
            <a:r>
              <a:t>IMPLEMENTATION PLAN</a:t>
            </a:r>
          </a:p>
        </p:txBody>
      </p:sp>
      <p:sp>
        <p:nvSpPr>
          <p:cNvPr id="3" name="TextBox 2"/>
          <p:cNvSpPr txBox="1"/>
          <p:nvPr/>
        </p:nvSpPr>
        <p:spPr>
          <a:xfrm>
            <a:off x="731520" y="640080"/>
            <a:ext cx="10728655" cy="731520"/>
          </a:xfrm>
          <a:prstGeom prst="rect">
            <a:avLst/>
          </a:prstGeom>
          <a:noFill/>
        </p:spPr>
        <p:txBody>
          <a:bodyPr wrap="square" lIns="0" tIns="0" rIns="0" bIns="0">
            <a:spAutoFit/>
          </a:bodyPr>
          <a:lstStyle/>
          <a:p>
            <a:pPr>
              <a:defRPr sz="2400" b="1">
                <a:solidFill>
                  <a:srgbClr val="1E293B"/>
                </a:solidFill>
                <a:latin typeface="Georgia"/>
              </a:defRPr>
            </a:pPr>
            <a:r>
              <a:t>Four-Step Action Plan Enables Full Local AI Setup in Under 30 Minutes</a:t>
            </a:r>
          </a:p>
        </p:txBody>
      </p:sp>
      <p:sp>
        <p:nvSpPr>
          <p:cNvPr id="4" name="Rectangle 3"/>
          <p:cNvSpPr/>
          <p:nvPr/>
        </p:nvSpPr>
        <p:spPr>
          <a:xfrm>
            <a:off x="731520" y="141732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453335" cy="438912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0284C7"/>
                </a:solidFill>
                <a:latin typeface="Verdana"/>
              </a:defRPr>
            </a:pPr>
            <a:r>
              <a:t>LMSTUDIO.AI</a:t>
            </a:r>
          </a:p>
          <a:p>
            <a:pPr>
              <a:spcBef>
                <a:spcPts val="400"/>
              </a:spcBef>
              <a:defRPr sz="1400" b="1">
                <a:solidFill>
                  <a:srgbClr val="1E293B"/>
                </a:solidFill>
                <a:latin typeface="Georgia"/>
              </a:defRPr>
            </a:pPr>
            <a:r>
              <a:t>1. INSTALL</a:t>
            </a:r>
          </a:p>
          <a:p>
            <a:pPr>
              <a:defRPr sz="1000">
                <a:solidFill>
                  <a:srgbClr val="64748B"/>
                </a:solidFill>
              </a:defRPr>
            </a:pPr>
            <a:r>
              <a:t>――――――――――――――</a:t>
            </a:r>
          </a:p>
          <a:p>
            <a:pPr>
              <a:spcBef>
                <a:spcPts val="800"/>
              </a:spcBef>
            </a:pPr>
            <a:r>
              <a:rPr b="1" sz="1050">
                <a:solidFill>
                  <a:srgbClr val="1E293B"/>
                </a:solidFill>
                <a:latin typeface="Verdana"/>
              </a:rPr>
              <a:t>Download: </a:t>
            </a:r>
            <a:r>
              <a:rPr sz="1050">
                <a:solidFill>
                  <a:srgbClr val="64748B"/>
                </a:solidFill>
                <a:latin typeface="Verdana"/>
              </a:rPr>
              <a:t>Get installer from official site lmstudio.ai.</a:t>
            </a:r>
          </a:p>
          <a:p>
            <a:pPr>
              <a:spcBef>
                <a:spcPts val="800"/>
              </a:spcBef>
            </a:pPr>
            <a:r>
              <a:rPr b="1" sz="1050">
                <a:solidFill>
                  <a:srgbClr val="1E293B"/>
                </a:solidFill>
                <a:latin typeface="Verdana"/>
              </a:rPr>
              <a:t>Run Setup: </a:t>
            </a:r>
            <a:r>
              <a:rPr sz="1050">
                <a:solidFill>
                  <a:srgbClr val="64748B"/>
                </a:solidFill>
                <a:latin typeface="Verdana"/>
              </a:rPr>
              <a:t>Install on Windows 11 or Mac workstation.</a:t>
            </a:r>
          </a:p>
          <a:p>
            <a:pPr>
              <a:spcBef>
                <a:spcPts val="800"/>
              </a:spcBef>
            </a:pPr>
            <a:r>
              <a:rPr b="1" sz="1050">
                <a:solidFill>
                  <a:srgbClr val="1E293B"/>
                </a:solidFill>
                <a:latin typeface="Verdana"/>
              </a:rPr>
              <a:t>Time: </a:t>
            </a:r>
            <a:r>
              <a:rPr sz="1050">
                <a:solidFill>
                  <a:srgbClr val="64748B"/>
                </a:solidFill>
                <a:latin typeface="Verdana"/>
              </a:rPr>
              <a:t>~3 minutes setup.</a:t>
            </a:r>
          </a:p>
        </p:txBody>
      </p:sp>
      <p:sp>
        <p:nvSpPr>
          <p:cNvPr id="6" name="Rounded Rectangle 5"/>
          <p:cNvSpPr/>
          <p:nvPr/>
        </p:nvSpPr>
        <p:spPr>
          <a:xfrm>
            <a:off x="3489350" y="1645920"/>
            <a:ext cx="2453335" cy="4389120"/>
          </a:xfrm>
          <a:prstGeom prst="roundRect">
            <a:avLst/>
          </a:prstGeom>
          <a:solidFill>
            <a:srgbClr val="FFFFFF"/>
          </a:solidFill>
          <a:ln w="254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0F766E"/>
                </a:solidFill>
                <a:latin typeface="Verdana"/>
              </a:defRPr>
            </a:pPr>
            <a:r>
              <a:t>LLAMA-3.1-8B</a:t>
            </a:r>
          </a:p>
          <a:p>
            <a:pPr>
              <a:spcBef>
                <a:spcPts val="400"/>
              </a:spcBef>
              <a:defRPr sz="1400" b="1">
                <a:solidFill>
                  <a:srgbClr val="1E293B"/>
                </a:solidFill>
                <a:latin typeface="Georgia"/>
              </a:defRPr>
            </a:pPr>
            <a:r>
              <a:t>2. MODEL SEARCH</a:t>
            </a:r>
          </a:p>
          <a:p>
            <a:pPr>
              <a:defRPr sz="1000">
                <a:solidFill>
                  <a:srgbClr val="64748B"/>
                </a:solidFill>
              </a:defRPr>
            </a:pPr>
            <a:r>
              <a:t>――――――――――――――</a:t>
            </a:r>
          </a:p>
          <a:p>
            <a:pPr>
              <a:spcBef>
                <a:spcPts val="800"/>
              </a:spcBef>
            </a:pPr>
            <a:r>
              <a:rPr b="1" sz="1050">
                <a:solidFill>
                  <a:srgbClr val="1E293B"/>
                </a:solidFill>
                <a:latin typeface="Verdana"/>
              </a:rPr>
              <a:t>Search: </a:t>
            </a:r>
            <a:r>
              <a:rPr sz="1050">
                <a:solidFill>
                  <a:srgbClr val="64748B"/>
                </a:solidFill>
                <a:latin typeface="Verdana"/>
              </a:rPr>
              <a:t>Search 'Llama-3.1-8B-Instruct' in Discover tab.</a:t>
            </a:r>
          </a:p>
          <a:p>
            <a:pPr>
              <a:spcBef>
                <a:spcPts val="800"/>
              </a:spcBef>
            </a:pPr>
            <a:r>
              <a:rPr b="1" sz="1050">
                <a:solidFill>
                  <a:srgbClr val="1E293B"/>
                </a:solidFill>
                <a:latin typeface="Verdana"/>
              </a:rPr>
              <a:t>Quantization: </a:t>
            </a:r>
            <a:r>
              <a:rPr sz="1050">
                <a:solidFill>
                  <a:srgbClr val="64748B"/>
                </a:solidFill>
                <a:latin typeface="Verdana"/>
              </a:rPr>
              <a:t>Select 'Q4_K_M' version (~4.9 GB).</a:t>
            </a:r>
          </a:p>
          <a:p>
            <a:pPr>
              <a:spcBef>
                <a:spcPts val="800"/>
              </a:spcBef>
            </a:pPr>
            <a:r>
              <a:rPr b="1" sz="1050">
                <a:solidFill>
                  <a:srgbClr val="1E293B"/>
                </a:solidFill>
                <a:latin typeface="Verdana"/>
              </a:rPr>
              <a:t>Download: </a:t>
            </a:r>
            <a:r>
              <a:rPr sz="1050">
                <a:solidFill>
                  <a:srgbClr val="64748B"/>
                </a:solidFill>
                <a:latin typeface="Verdana"/>
              </a:rPr>
              <a:t>One-click download.</a:t>
            </a:r>
          </a:p>
        </p:txBody>
      </p:sp>
      <p:sp>
        <p:nvSpPr>
          <p:cNvPr id="7" name="Rounded Rectangle 6"/>
          <p:cNvSpPr/>
          <p:nvPr/>
        </p:nvSpPr>
        <p:spPr>
          <a:xfrm>
            <a:off x="6247180" y="1645920"/>
            <a:ext cx="2453335" cy="43891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D97706"/>
                </a:solidFill>
                <a:latin typeface="Verdana"/>
              </a:defRPr>
            </a:pPr>
            <a:r>
              <a:t>SYSTEM PROMPT</a:t>
            </a:r>
          </a:p>
          <a:p>
            <a:pPr>
              <a:spcBef>
                <a:spcPts val="400"/>
              </a:spcBef>
              <a:defRPr sz="1400" b="1">
                <a:solidFill>
                  <a:srgbClr val="1E293B"/>
                </a:solidFill>
                <a:latin typeface="Georgia"/>
              </a:defRPr>
            </a:pPr>
            <a:r>
              <a:t>3. CONFIGURE</a:t>
            </a:r>
          </a:p>
          <a:p>
            <a:pPr>
              <a:defRPr sz="1000">
                <a:solidFill>
                  <a:srgbClr val="64748B"/>
                </a:solidFill>
              </a:defRPr>
            </a:pPr>
            <a:r>
              <a:t>――――――――――――――</a:t>
            </a:r>
          </a:p>
          <a:p>
            <a:pPr>
              <a:spcBef>
                <a:spcPts val="800"/>
              </a:spcBef>
            </a:pPr>
            <a:r>
              <a:rPr b="1" sz="1050">
                <a:solidFill>
                  <a:srgbClr val="1E293B"/>
                </a:solidFill>
                <a:latin typeface="Verdana"/>
              </a:rPr>
              <a:t>Load Model: </a:t>
            </a:r>
            <a:r>
              <a:rPr sz="1050">
                <a:solidFill>
                  <a:srgbClr val="64748B"/>
                </a:solidFill>
                <a:latin typeface="Verdana"/>
              </a:rPr>
              <a:t>Select model in Chat tab dropdown.</a:t>
            </a:r>
          </a:p>
          <a:p>
            <a:pPr>
              <a:spcBef>
                <a:spcPts val="800"/>
              </a:spcBef>
            </a:pPr>
            <a:r>
              <a:rPr b="1" sz="1050">
                <a:solidFill>
                  <a:srgbClr val="1E293B"/>
                </a:solidFill>
                <a:latin typeface="Verdana"/>
              </a:rPr>
              <a:t>Paste Prompt: </a:t>
            </a:r>
            <a:r>
              <a:rPr sz="1050">
                <a:solidFill>
                  <a:srgbClr val="64748B"/>
                </a:solidFill>
                <a:latin typeface="Verdana"/>
              </a:rPr>
              <a:t>Add manufacturing system prompt with LOTO emphasis.</a:t>
            </a:r>
          </a:p>
          <a:p>
            <a:pPr>
              <a:spcBef>
                <a:spcPts val="800"/>
              </a:spcBef>
            </a:pPr>
            <a:r>
              <a:rPr b="1" sz="1050">
                <a:solidFill>
                  <a:srgbClr val="1E293B"/>
                </a:solidFill>
                <a:latin typeface="Verdana"/>
              </a:rPr>
              <a:t>GPU Offload: </a:t>
            </a:r>
            <a:r>
              <a:rPr sz="1050">
                <a:solidFill>
                  <a:srgbClr val="64748B"/>
                </a:solidFill>
                <a:latin typeface="Verdana"/>
              </a:rPr>
              <a:t>Adjust slider for graphics card.</a:t>
            </a:r>
          </a:p>
        </p:txBody>
      </p:sp>
      <p:sp>
        <p:nvSpPr>
          <p:cNvPr id="8" name="Rounded Rectangle 7"/>
          <p:cNvSpPr/>
          <p:nvPr/>
        </p:nvSpPr>
        <p:spPr>
          <a:xfrm>
            <a:off x="9005010" y="1645920"/>
            <a:ext cx="2453335" cy="4389120"/>
          </a:xfrm>
          <a:prstGeom prst="roundRect">
            <a:avLst/>
          </a:prstGeom>
          <a:solidFill>
            <a:srgbClr val="FFFFFF"/>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1E293B"/>
                </a:solidFill>
                <a:latin typeface="Verdana"/>
              </a:defRPr>
            </a:pPr>
            <a:r>
              <a:t>MANUAL INGESTION</a:t>
            </a:r>
          </a:p>
          <a:p>
            <a:pPr>
              <a:spcBef>
                <a:spcPts val="400"/>
              </a:spcBef>
              <a:defRPr sz="1400" b="1">
                <a:solidFill>
                  <a:srgbClr val="1E293B"/>
                </a:solidFill>
                <a:latin typeface="Georgia"/>
              </a:defRPr>
            </a:pPr>
            <a:r>
              <a:t>4. TEST WORKFLOW</a:t>
            </a:r>
          </a:p>
          <a:p>
            <a:pPr>
              <a:defRPr sz="1000">
                <a:solidFill>
                  <a:srgbClr val="64748B"/>
                </a:solidFill>
              </a:defRPr>
            </a:pPr>
            <a:r>
              <a:t>――――――――――――――</a:t>
            </a:r>
          </a:p>
          <a:p>
            <a:pPr>
              <a:spcBef>
                <a:spcPts val="800"/>
              </a:spcBef>
            </a:pPr>
            <a:r>
              <a:rPr b="1" sz="1050">
                <a:solidFill>
                  <a:srgbClr val="1E293B"/>
                </a:solidFill>
                <a:latin typeface="Verdana"/>
              </a:rPr>
              <a:t>Attach Document: </a:t>
            </a:r>
            <a:r>
              <a:rPr sz="1050">
                <a:solidFill>
                  <a:srgbClr val="64748B"/>
                </a:solidFill>
                <a:latin typeface="Verdana"/>
              </a:rPr>
              <a:t>Drag &amp; drop equipment PDF manual.</a:t>
            </a:r>
          </a:p>
          <a:p>
            <a:pPr>
              <a:spcBef>
                <a:spcPts val="800"/>
              </a:spcBef>
            </a:pPr>
            <a:r>
              <a:rPr b="1" sz="1050">
                <a:solidFill>
                  <a:srgbClr val="1E293B"/>
                </a:solidFill>
                <a:latin typeface="Verdana"/>
              </a:rPr>
              <a:t>Run Query: </a:t>
            </a:r>
            <a:r>
              <a:rPr sz="1050">
                <a:solidFill>
                  <a:srgbClr val="64748B"/>
                </a:solidFill>
                <a:latin typeface="Verdana"/>
              </a:rPr>
              <a:t>Test machine alarm or PM checklist question.</a:t>
            </a:r>
          </a:p>
          <a:p>
            <a:pPr>
              <a:spcBef>
                <a:spcPts val="800"/>
              </a:spcBef>
            </a:pPr>
            <a:r>
              <a:rPr b="1" sz="1050">
                <a:solidFill>
                  <a:srgbClr val="1E293B"/>
                </a:solidFill>
                <a:latin typeface="Verdana"/>
              </a:rPr>
              <a:t>Verify: </a:t>
            </a:r>
            <a:r>
              <a:rPr sz="1050">
                <a:solidFill>
                  <a:srgbClr val="64748B"/>
                </a:solidFill>
                <a:latin typeface="Verdana"/>
              </a:rPr>
              <a:t>Observe local generation speed and accuracy.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914400"/>
            <a:ext cx="10362895" cy="1097280"/>
          </a:xfrm>
          <a:prstGeom prst="rect">
            <a:avLst/>
          </a:prstGeom>
          <a:noFill/>
        </p:spPr>
        <p:txBody>
          <a:bodyPr wrap="square">
            <a:spAutoFit/>
          </a:bodyPr>
          <a:lstStyle/>
          <a:p>
            <a:pPr algn="ctr">
              <a:defRPr sz="3200" b="1">
                <a:solidFill>
                  <a:srgbClr val="F8FAFC"/>
                </a:solidFill>
                <a:latin typeface="Georgia"/>
              </a:defRPr>
            </a:pPr>
            <a:r>
              <a:t>Transforming Factory Operations with Private Local AI</a:t>
            </a:r>
          </a:p>
          <a:p>
            <a:pPr algn="ctr">
              <a:spcBef>
                <a:spcPts val="600"/>
              </a:spcBef>
              <a:defRPr sz="1800">
                <a:solidFill>
                  <a:srgbClr val="D97706"/>
                </a:solidFill>
                <a:latin typeface="Verdana"/>
              </a:defRPr>
            </a:pPr>
            <a:r>
              <a:t>Key Takeaways &amp; Open Floor Q&amp;A</a:t>
            </a:r>
          </a:p>
        </p:txBody>
      </p:sp>
      <p:sp>
        <p:nvSpPr>
          <p:cNvPr id="3" name="Rounded Rectangle 2"/>
          <p:cNvSpPr/>
          <p:nvPr/>
        </p:nvSpPr>
        <p:spPr>
          <a:xfrm>
            <a:off x="731520" y="2377440"/>
            <a:ext cx="3332073" cy="347472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D97706"/>
                </a:solidFill>
                <a:latin typeface="Verdana"/>
              </a:defRPr>
            </a:pPr>
            <a:r>
              <a:t>DATA SOVEREIGNTY</a:t>
            </a:r>
          </a:p>
          <a:p>
            <a:pPr>
              <a:spcBef>
                <a:spcPts val="600"/>
              </a:spcBef>
              <a:defRPr sz="1600" b="1">
                <a:solidFill>
                  <a:srgbClr val="F8FAFC"/>
                </a:solidFill>
                <a:latin typeface="Georgia"/>
              </a:defRPr>
            </a:pPr>
            <a:r>
              <a:t>Keep IP Local</a:t>
            </a:r>
          </a:p>
          <a:p>
            <a:pPr>
              <a:spcBef>
                <a:spcPts val="1000"/>
              </a:spcBef>
              <a:defRPr sz="1200">
                <a:solidFill>
                  <a:srgbClr val="94A3B8"/>
                </a:solidFill>
                <a:latin typeface="Verdana"/>
              </a:defRPr>
            </a:pPr>
            <a:r>
              <a:t>Deploy local models on plant PCs so proprietary blueprints, incident logs, and OEM specs never touch public cloud networks.</a:t>
            </a:r>
          </a:p>
        </p:txBody>
      </p:sp>
      <p:sp>
        <p:nvSpPr>
          <p:cNvPr id="4" name="Rounded Rectangle 3"/>
          <p:cNvSpPr/>
          <p:nvPr/>
        </p:nvSpPr>
        <p:spPr>
          <a:xfrm>
            <a:off x="4429353" y="2377440"/>
            <a:ext cx="3332073" cy="3474720"/>
          </a:xfrm>
          <a:prstGeom prst="roundRect">
            <a:avLst/>
          </a:prstGeom>
          <a:solidFill>
            <a:srgbClr val="1E293B"/>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D97706"/>
                </a:solidFill>
                <a:latin typeface="Verdana"/>
              </a:defRPr>
            </a:pPr>
            <a:r>
              <a:t>UNINTERRUPTED UPTIME</a:t>
            </a:r>
          </a:p>
          <a:p>
            <a:pPr>
              <a:spcBef>
                <a:spcPts val="600"/>
              </a:spcBef>
              <a:defRPr sz="1600" b="1">
                <a:solidFill>
                  <a:srgbClr val="F8FAFC"/>
                </a:solidFill>
                <a:latin typeface="Georgia"/>
              </a:defRPr>
            </a:pPr>
            <a:r>
              <a:t>Offline Reliability</a:t>
            </a:r>
          </a:p>
          <a:p>
            <a:pPr>
              <a:spcBef>
                <a:spcPts val="1000"/>
              </a:spcBef>
              <a:defRPr sz="1200">
                <a:solidFill>
                  <a:srgbClr val="94A3B8"/>
                </a:solidFill>
                <a:latin typeface="Verdana"/>
              </a:defRPr>
            </a:pPr>
            <a:r>
              <a:t>Maintain continuous operational AI capability on air-gapped shop floors without recurring per-token cloud costs.</a:t>
            </a:r>
          </a:p>
        </p:txBody>
      </p:sp>
      <p:sp>
        <p:nvSpPr>
          <p:cNvPr id="5" name="Rounded Rectangle 4"/>
          <p:cNvSpPr/>
          <p:nvPr/>
        </p:nvSpPr>
        <p:spPr>
          <a:xfrm>
            <a:off x="8127186" y="2377440"/>
            <a:ext cx="3332073" cy="3474720"/>
          </a:xfrm>
          <a:prstGeom prst="roundRect">
            <a:avLst/>
          </a:prstGeom>
          <a:solidFill>
            <a:srgbClr val="1E293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D97706"/>
                </a:solidFill>
                <a:latin typeface="Verdana"/>
              </a:defRPr>
            </a:pPr>
            <a:r>
              <a:t>IMMEDIATE VALUE</a:t>
            </a:r>
          </a:p>
          <a:p>
            <a:pPr>
              <a:spcBef>
                <a:spcPts val="600"/>
              </a:spcBef>
              <a:defRPr sz="1600" b="1">
                <a:solidFill>
                  <a:srgbClr val="F8FAFC"/>
                </a:solidFill>
                <a:latin typeface="Georgia"/>
              </a:defRPr>
            </a:pPr>
            <a:r>
              <a:t>Start Small Today</a:t>
            </a:r>
          </a:p>
          <a:p>
            <a:pPr>
              <a:spcBef>
                <a:spcPts val="1000"/>
              </a:spcBef>
              <a:defRPr sz="1200">
                <a:solidFill>
                  <a:srgbClr val="94A3B8"/>
                </a:solidFill>
                <a:latin typeface="Verdana"/>
              </a:defRPr>
            </a:pPr>
            <a:r>
              <a:t>Begin with manual ingestion and equipment troubleshooting using LM Studio before expanding into MCP &amp; MES integrations.</a:t>
            </a:r>
          </a:p>
        </p:txBody>
      </p:sp>
      <p:sp>
        <p:nvSpPr>
          <p:cNvPr id="6" name="TextBox 5"/>
          <p:cNvSpPr txBox="1"/>
          <p:nvPr/>
        </p:nvSpPr>
        <p:spPr>
          <a:xfrm>
            <a:off x="914400" y="5943600"/>
            <a:ext cx="10362895" cy="548640"/>
          </a:xfrm>
          <a:prstGeom prst="rect">
            <a:avLst/>
          </a:prstGeom>
          <a:noFill/>
        </p:spPr>
        <p:txBody>
          <a:bodyPr wrap="none">
            <a:spAutoFit/>
          </a:bodyPr>
          <a:lstStyle/>
          <a:p>
            <a:pPr algn="ctr">
              <a:defRPr sz="1400" b="1">
                <a:solidFill>
                  <a:srgbClr val="F8FAFC"/>
                </a:solidFill>
                <a:latin typeface="Verdana"/>
              </a:defRPr>
            </a:pPr>
            <a:r>
              <a:t>Questions &amp; Discussion — What manufacturing workflows would you like to test on your local PC?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